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ptos"/>
      </a:defRPr>
    </a:lvl1pPr>
    <a:lvl2pPr indent="228600" latinLnBrk="0">
      <a:defRPr sz="1200">
        <a:latin typeface="+mn-lt"/>
        <a:ea typeface="+mn-ea"/>
        <a:cs typeface="+mn-cs"/>
        <a:sym typeface="Aptos"/>
      </a:defRPr>
    </a:lvl2pPr>
    <a:lvl3pPr indent="457200" latinLnBrk="0">
      <a:defRPr sz="1200">
        <a:latin typeface="+mn-lt"/>
        <a:ea typeface="+mn-ea"/>
        <a:cs typeface="+mn-cs"/>
        <a:sym typeface="Aptos"/>
      </a:defRPr>
    </a:lvl3pPr>
    <a:lvl4pPr indent="685800" latinLnBrk="0">
      <a:defRPr sz="1200">
        <a:latin typeface="+mn-lt"/>
        <a:ea typeface="+mn-ea"/>
        <a:cs typeface="+mn-cs"/>
        <a:sym typeface="Aptos"/>
      </a:defRPr>
    </a:lvl4pPr>
    <a:lvl5pPr indent="914400" latinLnBrk="0">
      <a:defRPr sz="1200">
        <a:latin typeface="+mn-lt"/>
        <a:ea typeface="+mn-ea"/>
        <a:cs typeface="+mn-cs"/>
        <a:sym typeface="Aptos"/>
      </a:defRPr>
    </a:lvl5pPr>
    <a:lvl6pPr indent="1143000" latinLnBrk="0">
      <a:defRPr sz="1200">
        <a:latin typeface="+mn-lt"/>
        <a:ea typeface="+mn-ea"/>
        <a:cs typeface="+mn-cs"/>
        <a:sym typeface="Aptos"/>
      </a:defRPr>
    </a:lvl6pPr>
    <a:lvl7pPr indent="1371600" latinLnBrk="0">
      <a:defRPr sz="1200">
        <a:latin typeface="+mn-lt"/>
        <a:ea typeface="+mn-ea"/>
        <a:cs typeface="+mn-cs"/>
        <a:sym typeface="Aptos"/>
      </a:defRPr>
    </a:lvl7pPr>
    <a:lvl8pPr indent="1600200" latinLnBrk="0">
      <a:defRPr sz="1200">
        <a:latin typeface="+mn-lt"/>
        <a:ea typeface="+mn-ea"/>
        <a:cs typeface="+mn-cs"/>
        <a:sym typeface="Aptos"/>
      </a:defRPr>
    </a:lvl8pPr>
    <a:lvl9pPr indent="1828800" latinLnBrk="0">
      <a:defRPr sz="1200">
        <a:latin typeface="+mn-lt"/>
        <a:ea typeface="+mn-ea"/>
        <a:cs typeface="+mn-cs"/>
        <a:sym typeface="Aptos"/>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e du titre"/>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Texte du titre</a:t>
            </a:r>
          </a:p>
        </p:txBody>
      </p:sp>
      <p:sp>
        <p:nvSpPr>
          <p:cNvPr id="3" name="Texte niveau 1…"/>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Texte niveau 1</a:t>
            </a:r>
          </a:p>
          <a:p>
            <a:pPr lvl="1"/>
            <a:r>
              <a:t>Texte niveau 2</a:t>
            </a:r>
          </a:p>
          <a:p>
            <a:pPr lvl="2"/>
            <a:r>
              <a:t>Texte niveau 3</a:t>
            </a:r>
          </a:p>
          <a:p>
            <a:pPr lvl="3"/>
            <a:r>
              <a:t>Texte niveau 4</a:t>
            </a:r>
          </a:p>
          <a:p>
            <a:pPr lvl="4"/>
            <a:r>
              <a:t>Texte niveau 5</a:t>
            </a:r>
          </a:p>
        </p:txBody>
      </p:sp>
      <p:sp>
        <p:nvSpPr>
          <p:cNvPr id="4" name="Numéro de diapositive"/>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3557"/>
        </a:solidFill>
      </p:bgPr>
    </p:bg>
    <p:spTree>
      <p:nvGrpSpPr>
        <p:cNvPr id="1" name=""/>
        <p:cNvGrpSpPr/>
        <p:nvPr/>
      </p:nvGrpSpPr>
      <p:grpSpPr>
        <a:xfrm>
          <a:off x="0" y="0"/>
          <a:ext cx="0" cy="0"/>
          <a:chOff x="0" y="0"/>
          <a:chExt cx="0" cy="0"/>
        </a:xfrm>
      </p:grpSpPr>
      <p:sp>
        <p:nvSpPr>
          <p:cNvPr id="20" name="Shape 0"/>
          <p:cNvSpPr/>
          <p:nvPr/>
        </p:nvSpPr>
        <p:spPr>
          <a:xfrm>
            <a:off x="0" y="0"/>
            <a:ext cx="9144000" cy="109728"/>
          </a:xfrm>
          <a:prstGeom prst="rect">
            <a:avLst/>
          </a:prstGeom>
          <a:solidFill>
            <a:srgbClr val="0891B2"/>
          </a:solidFill>
          <a:ln w="12700">
            <a:solidFill>
              <a:srgbClr val="0891B2"/>
            </a:solidFill>
          </a:ln>
        </p:spPr>
        <p:txBody>
          <a:bodyPr lIns="45719" rIns="45719"/>
          <a:lstStyle/>
          <a:p>
            <a:pPr/>
          </a:p>
        </p:txBody>
      </p:sp>
      <p:sp>
        <p:nvSpPr>
          <p:cNvPr id="21" name="Text 1"/>
          <p:cNvSpPr txBox="1"/>
          <p:nvPr/>
        </p:nvSpPr>
        <p:spPr>
          <a:xfrm>
            <a:off x="594360" y="623485"/>
            <a:ext cx="7955279" cy="58183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pc="400" sz="3800">
                <a:solidFill>
                  <a:srgbClr val="FFFFFF"/>
                </a:solidFill>
              </a:defRPr>
            </a:lvl1pPr>
          </a:lstStyle>
          <a:p>
            <a:pPr/>
            <a:r>
              <a:t>RAPPORT DE STAGE</a:t>
            </a:r>
          </a:p>
        </p:txBody>
      </p:sp>
      <p:sp>
        <p:nvSpPr>
          <p:cNvPr id="22" name="Shape 3"/>
          <p:cNvSpPr/>
          <p:nvPr/>
        </p:nvSpPr>
        <p:spPr>
          <a:xfrm>
            <a:off x="1097279" y="1761974"/>
            <a:ext cx="6949442" cy="2286001"/>
          </a:xfrm>
          <a:prstGeom prst="rect">
            <a:avLst/>
          </a:prstGeom>
          <a:solidFill>
            <a:srgbClr val="FFFFFF"/>
          </a:solidFill>
          <a:ln w="25400">
            <a:solidFill>
              <a:srgbClr val="0891B2"/>
            </a:solidFill>
          </a:ln>
        </p:spPr>
        <p:txBody>
          <a:bodyPr lIns="45719" rIns="45719"/>
          <a:lstStyle/>
          <a:p>
            <a:pPr/>
          </a:p>
        </p:txBody>
      </p:sp>
      <p:grpSp>
        <p:nvGrpSpPr>
          <p:cNvPr id="25" name="Shape 4"/>
          <p:cNvGrpSpPr/>
          <p:nvPr/>
        </p:nvGrpSpPr>
        <p:grpSpPr>
          <a:xfrm>
            <a:off x="1371600" y="1841984"/>
            <a:ext cx="6400800" cy="411481"/>
            <a:chOff x="0" y="0"/>
            <a:chExt cx="6400800" cy="411480"/>
          </a:xfrm>
        </p:grpSpPr>
        <p:sp>
          <p:nvSpPr>
            <p:cNvPr id="23" name="Rectangle"/>
            <p:cNvSpPr/>
            <p:nvPr/>
          </p:nvSpPr>
          <p:spPr>
            <a:xfrm>
              <a:off x="0" y="-1"/>
              <a:ext cx="6400800" cy="411482"/>
            </a:xfrm>
            <a:prstGeom prst="rect">
              <a:avLst/>
            </a:prstGeom>
            <a:solidFill>
              <a:srgbClr val="EFF6FF"/>
            </a:solidFill>
            <a:ln w="12700" cap="flat">
              <a:solidFill>
                <a:srgbClr val="93C5FD"/>
              </a:solidFill>
              <a:prstDash val="dash"/>
              <a:round/>
            </a:ln>
            <a:effectLst/>
          </p:spPr>
          <p:txBody>
            <a:bodyPr wrap="square" lIns="45719" tIns="45719" rIns="45719" bIns="45719" numCol="1" anchor="t">
              <a:noAutofit/>
            </a:bodyPr>
            <a:lstStyle/>
            <a:p>
              <a:pPr/>
            </a:p>
          </p:txBody>
        </p:sp>
        <p:sp>
          <p:nvSpPr>
            <p:cNvPr id="24" name="CAREME Joey"/>
            <p:cNvSpPr txBox="1"/>
            <p:nvPr/>
          </p:nvSpPr>
          <p:spPr>
            <a:xfrm>
              <a:off x="52069" y="6349"/>
              <a:ext cx="6296661" cy="3330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r>
                <a:t>CAREME Joey</a:t>
              </a:r>
            </a:p>
          </p:txBody>
        </p:sp>
      </p:grpSp>
      <p:sp>
        <p:nvSpPr>
          <p:cNvPr id="26" name="Shape 6"/>
          <p:cNvSpPr/>
          <p:nvPr/>
        </p:nvSpPr>
        <p:spPr>
          <a:xfrm>
            <a:off x="1371600" y="2493493"/>
            <a:ext cx="6400800" cy="411481"/>
          </a:xfrm>
          <a:prstGeom prst="rect">
            <a:avLst/>
          </a:prstGeom>
          <a:solidFill>
            <a:srgbClr val="EFF6FF"/>
          </a:solidFill>
          <a:ln w="12700">
            <a:solidFill>
              <a:srgbClr val="93C5FD"/>
            </a:solidFill>
            <a:prstDash val="dash"/>
          </a:ln>
        </p:spPr>
        <p:txBody>
          <a:bodyPr lIns="45719" rIns="45719"/>
          <a:lstStyle/>
          <a:p>
            <a:pPr/>
          </a:p>
        </p:txBody>
      </p:sp>
      <p:sp>
        <p:nvSpPr>
          <p:cNvPr id="27" name="Text 7"/>
          <p:cNvSpPr txBox="1"/>
          <p:nvPr/>
        </p:nvSpPr>
        <p:spPr>
          <a:xfrm>
            <a:off x="1371600" y="2555900"/>
            <a:ext cx="6400800" cy="286668"/>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APYNOW Consulting</a:t>
            </a:r>
          </a:p>
        </p:txBody>
      </p:sp>
      <p:sp>
        <p:nvSpPr>
          <p:cNvPr id="28" name="Text 10"/>
          <p:cNvSpPr txBox="1"/>
          <p:nvPr/>
        </p:nvSpPr>
        <p:spPr>
          <a:xfrm>
            <a:off x="1417319" y="3580921"/>
            <a:ext cx="365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1E293B"/>
                </a:solidFill>
              </a:defRPr>
            </a:lvl1pPr>
          </a:lstStyle>
          <a:p>
            <a:pPr/>
            <a:r>
              <a:t>Du</a:t>
            </a:r>
          </a:p>
        </p:txBody>
      </p:sp>
      <p:sp>
        <p:nvSpPr>
          <p:cNvPr id="29" name="Shape 11"/>
          <p:cNvSpPr/>
          <p:nvPr/>
        </p:nvSpPr>
        <p:spPr>
          <a:xfrm>
            <a:off x="1828800" y="3545054"/>
            <a:ext cx="2286000" cy="320041"/>
          </a:xfrm>
          <a:prstGeom prst="rect">
            <a:avLst/>
          </a:prstGeom>
          <a:solidFill>
            <a:srgbClr val="EFF6FF"/>
          </a:solidFill>
          <a:ln w="12700">
            <a:solidFill>
              <a:srgbClr val="93C5FD"/>
            </a:solidFill>
            <a:prstDash val="dash"/>
          </a:ln>
        </p:spPr>
        <p:txBody>
          <a:bodyPr lIns="45719" rIns="45719"/>
          <a:lstStyle/>
          <a:p>
            <a:pPr/>
          </a:p>
        </p:txBody>
      </p:sp>
      <p:sp>
        <p:nvSpPr>
          <p:cNvPr id="30" name="Text 12"/>
          <p:cNvSpPr txBox="1"/>
          <p:nvPr/>
        </p:nvSpPr>
        <p:spPr>
          <a:xfrm>
            <a:off x="1828800" y="3561740"/>
            <a:ext cx="2286000" cy="2866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02/01/2026</a:t>
            </a:r>
          </a:p>
        </p:txBody>
      </p:sp>
      <p:sp>
        <p:nvSpPr>
          <p:cNvPr id="31" name="Text 13"/>
          <p:cNvSpPr txBox="1"/>
          <p:nvPr/>
        </p:nvSpPr>
        <p:spPr>
          <a:xfrm>
            <a:off x="4251960" y="3580921"/>
            <a:ext cx="365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1E293B"/>
                </a:solidFill>
              </a:defRPr>
            </a:lvl1pPr>
          </a:lstStyle>
          <a:p>
            <a:pPr/>
            <a:r>
              <a:t>au</a:t>
            </a:r>
          </a:p>
        </p:txBody>
      </p:sp>
      <p:sp>
        <p:nvSpPr>
          <p:cNvPr id="32" name="Shape 14"/>
          <p:cNvSpPr/>
          <p:nvPr/>
        </p:nvSpPr>
        <p:spPr>
          <a:xfrm>
            <a:off x="4754879" y="3545054"/>
            <a:ext cx="2286001" cy="320041"/>
          </a:xfrm>
          <a:prstGeom prst="rect">
            <a:avLst/>
          </a:prstGeom>
          <a:solidFill>
            <a:srgbClr val="EFF6FF"/>
          </a:solidFill>
          <a:ln w="12700">
            <a:solidFill>
              <a:srgbClr val="93C5FD"/>
            </a:solidFill>
            <a:prstDash val="dash"/>
          </a:ln>
        </p:spPr>
        <p:txBody>
          <a:bodyPr lIns="45719" rIns="45719"/>
          <a:lstStyle/>
          <a:p>
            <a:pPr/>
          </a:p>
        </p:txBody>
      </p:sp>
      <p:sp>
        <p:nvSpPr>
          <p:cNvPr id="33" name="Text 15"/>
          <p:cNvSpPr txBox="1"/>
          <p:nvPr/>
        </p:nvSpPr>
        <p:spPr>
          <a:xfrm>
            <a:off x="4754879" y="3561740"/>
            <a:ext cx="2286001" cy="2866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06/02/2026</a:t>
            </a:r>
          </a:p>
        </p:txBody>
      </p:sp>
      <p:sp>
        <p:nvSpPr>
          <p:cNvPr id="34" name="Shape 16"/>
          <p:cNvSpPr/>
          <p:nvPr/>
        </p:nvSpPr>
        <p:spPr>
          <a:xfrm>
            <a:off x="548640" y="4002254"/>
            <a:ext cx="3200401" cy="973304"/>
          </a:xfrm>
          <a:prstGeom prst="rect">
            <a:avLst/>
          </a:prstGeom>
          <a:solidFill>
            <a:srgbClr val="F1F5F9"/>
          </a:solidFill>
          <a:ln w="12700">
            <a:solidFill>
              <a:srgbClr val="CBD5E1"/>
            </a:solidFill>
          </a:ln>
        </p:spPr>
        <p:txBody>
          <a:bodyPr lIns="45719" rIns="45719"/>
          <a:lstStyle/>
          <a:p>
            <a:pPr/>
          </a:p>
        </p:txBody>
      </p:sp>
      <p:sp>
        <p:nvSpPr>
          <p:cNvPr id="35" name="Text 17"/>
          <p:cNvSpPr txBox="1"/>
          <p:nvPr/>
        </p:nvSpPr>
        <p:spPr>
          <a:xfrm>
            <a:off x="594359" y="4227285"/>
            <a:ext cx="3108962" cy="523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1400">
                <a:latin typeface="Algerian"/>
                <a:ea typeface="Algerian"/>
                <a:cs typeface="Algerian"/>
                <a:sym typeface="Algerian"/>
              </a:defRPr>
            </a:pPr>
            <a:r>
              <a:t>Lycée polyvalent </a:t>
            </a:r>
          </a:p>
          <a:p>
            <a:pPr algn="ctr">
              <a:defRPr sz="1400">
                <a:latin typeface="Algerian"/>
                <a:ea typeface="Algerian"/>
                <a:cs typeface="Algerian"/>
                <a:sym typeface="Algerian"/>
              </a:defRPr>
            </a:pPr>
            <a:r>
              <a:t>Melkior Garré</a:t>
            </a:r>
          </a:p>
        </p:txBody>
      </p:sp>
      <p:sp>
        <p:nvSpPr>
          <p:cNvPr id="36" name="Shape 18"/>
          <p:cNvSpPr/>
          <p:nvPr/>
        </p:nvSpPr>
        <p:spPr>
          <a:xfrm>
            <a:off x="5394959" y="4002254"/>
            <a:ext cx="3200401" cy="973304"/>
          </a:xfrm>
          <a:prstGeom prst="rect">
            <a:avLst/>
          </a:prstGeom>
          <a:solidFill>
            <a:srgbClr val="F1F5F9"/>
          </a:solidFill>
          <a:ln w="12700">
            <a:solidFill>
              <a:srgbClr val="CBD5E1"/>
            </a:solidFill>
          </a:ln>
        </p:spPr>
        <p:txBody>
          <a:bodyPr lIns="45719" rIns="45719"/>
          <a:lstStyle/>
          <a:p>
            <a:pPr/>
          </a:p>
        </p:txBody>
      </p:sp>
      <p:sp>
        <p:nvSpPr>
          <p:cNvPr id="37" name="Shape 20"/>
          <p:cNvSpPr/>
          <p:nvPr/>
        </p:nvSpPr>
        <p:spPr>
          <a:xfrm>
            <a:off x="0" y="5052059"/>
            <a:ext cx="9144000" cy="91441"/>
          </a:xfrm>
          <a:prstGeom prst="rect">
            <a:avLst/>
          </a:prstGeom>
          <a:solidFill>
            <a:srgbClr val="F59E0B"/>
          </a:solidFill>
          <a:ln w="12700">
            <a:solidFill>
              <a:srgbClr val="F59E0B"/>
            </a:solidFill>
          </a:ln>
        </p:spPr>
        <p:txBody>
          <a:bodyPr lIns="45719" rIns="45719"/>
          <a:lstStyle/>
          <a:p>
            <a:pPr/>
          </a:p>
        </p:txBody>
      </p:sp>
      <p:pic>
        <p:nvPicPr>
          <p:cNvPr id="38" name="Image 22" descr="Image 22"/>
          <p:cNvPicPr>
            <a:picLocks noChangeAspect="1"/>
          </p:cNvPicPr>
          <p:nvPr/>
        </p:nvPicPr>
        <p:blipFill>
          <a:blip r:embed="rId2">
            <a:extLst/>
          </a:blip>
          <a:stretch>
            <a:fillRect/>
          </a:stretch>
        </p:blipFill>
        <p:spPr>
          <a:xfrm>
            <a:off x="5394959" y="4005995"/>
            <a:ext cx="3200400" cy="969564"/>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 name="Shape 0"/>
          <p:cNvSpPr/>
          <p:nvPr/>
        </p:nvSpPr>
        <p:spPr>
          <a:xfrm>
            <a:off x="0" y="0"/>
            <a:ext cx="109728" cy="5143500"/>
          </a:xfrm>
          <a:prstGeom prst="rect">
            <a:avLst/>
          </a:prstGeom>
          <a:solidFill>
            <a:srgbClr val="0891B2"/>
          </a:solidFill>
          <a:ln w="12700">
            <a:solidFill>
              <a:srgbClr val="0891B2"/>
            </a:solidFill>
          </a:ln>
        </p:spPr>
        <p:txBody>
          <a:bodyPr lIns="45719" rIns="45719"/>
          <a:lstStyle/>
          <a:p>
            <a:pPr/>
          </a:p>
        </p:txBody>
      </p:sp>
      <p:sp>
        <p:nvSpPr>
          <p:cNvPr id="41" name="Text 1"/>
          <p:cNvSpPr txBox="1"/>
          <p:nvPr/>
        </p:nvSpPr>
        <p:spPr>
          <a:xfrm>
            <a:off x="411479" y="349383"/>
            <a:ext cx="8138161"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300" sz="3000">
                <a:solidFill>
                  <a:srgbClr val="1A3557"/>
                </a:solidFill>
              </a:defRPr>
            </a:lvl1pPr>
          </a:lstStyle>
          <a:p>
            <a:pPr/>
            <a:r>
              <a:t>SOMMAIRE</a:t>
            </a:r>
          </a:p>
        </p:txBody>
      </p:sp>
      <p:sp>
        <p:nvSpPr>
          <p:cNvPr id="42" name="Shape 2"/>
          <p:cNvSpPr/>
          <p:nvPr/>
        </p:nvSpPr>
        <p:spPr>
          <a:xfrm>
            <a:off x="365759" y="1005839"/>
            <a:ext cx="502921" cy="502920"/>
          </a:xfrm>
          <a:prstGeom prst="rect">
            <a:avLst/>
          </a:prstGeom>
          <a:solidFill>
            <a:srgbClr val="1A3557"/>
          </a:solidFill>
          <a:ln w="12700">
            <a:solidFill>
              <a:srgbClr val="1A3557"/>
            </a:solidFill>
          </a:ln>
        </p:spPr>
        <p:txBody>
          <a:bodyPr lIns="45719" rIns="45719"/>
          <a:lstStyle/>
          <a:p>
            <a:pPr/>
          </a:p>
        </p:txBody>
      </p:sp>
      <p:sp>
        <p:nvSpPr>
          <p:cNvPr id="43" name="Text 3"/>
          <p:cNvSpPr txBox="1"/>
          <p:nvPr/>
        </p:nvSpPr>
        <p:spPr>
          <a:xfrm>
            <a:off x="411479" y="1107002"/>
            <a:ext cx="411480"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600">
                <a:solidFill>
                  <a:srgbClr val="FFFFFF"/>
                </a:solidFill>
              </a:defRPr>
            </a:lvl1pPr>
          </a:lstStyle>
          <a:p>
            <a:pPr/>
            <a:r>
              <a:t>01</a:t>
            </a:r>
          </a:p>
        </p:txBody>
      </p:sp>
      <p:sp>
        <p:nvSpPr>
          <p:cNvPr id="44" name="Text 4"/>
          <p:cNvSpPr txBox="1"/>
          <p:nvPr/>
        </p:nvSpPr>
        <p:spPr>
          <a:xfrm>
            <a:off x="1097279" y="1107003"/>
            <a:ext cx="7406642"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600">
                <a:solidFill>
                  <a:srgbClr val="1E293B"/>
                </a:solidFill>
              </a:defRPr>
            </a:lvl1pPr>
          </a:lstStyle>
          <a:p>
            <a:pPr/>
            <a:r>
              <a:t>Présentation de l'entreprise</a:t>
            </a:r>
          </a:p>
        </p:txBody>
      </p:sp>
      <p:sp>
        <p:nvSpPr>
          <p:cNvPr id="45" name="Shape 5"/>
          <p:cNvSpPr/>
          <p:nvPr/>
        </p:nvSpPr>
        <p:spPr>
          <a:xfrm>
            <a:off x="365760" y="1552702"/>
            <a:ext cx="8138160" cy="12701"/>
          </a:xfrm>
          <a:prstGeom prst="rect">
            <a:avLst/>
          </a:prstGeom>
          <a:solidFill>
            <a:srgbClr val="E2E8F0"/>
          </a:solidFill>
          <a:ln w="12700">
            <a:solidFill>
              <a:srgbClr val="E2E8F0"/>
            </a:solidFill>
          </a:ln>
        </p:spPr>
        <p:txBody>
          <a:bodyPr lIns="45719" rIns="45719"/>
          <a:lstStyle/>
          <a:p>
            <a:pPr/>
          </a:p>
        </p:txBody>
      </p:sp>
      <p:sp>
        <p:nvSpPr>
          <p:cNvPr id="46" name="Shape 6"/>
          <p:cNvSpPr/>
          <p:nvPr/>
        </p:nvSpPr>
        <p:spPr>
          <a:xfrm>
            <a:off x="365759" y="1755648"/>
            <a:ext cx="502921" cy="502920"/>
          </a:xfrm>
          <a:prstGeom prst="rect">
            <a:avLst/>
          </a:prstGeom>
          <a:solidFill>
            <a:srgbClr val="1A3557"/>
          </a:solidFill>
          <a:ln w="12700">
            <a:solidFill>
              <a:srgbClr val="1A3557"/>
            </a:solidFill>
          </a:ln>
        </p:spPr>
        <p:txBody>
          <a:bodyPr lIns="45719" rIns="45719"/>
          <a:lstStyle/>
          <a:p>
            <a:pPr/>
          </a:p>
        </p:txBody>
      </p:sp>
      <p:sp>
        <p:nvSpPr>
          <p:cNvPr id="47" name="Text 7"/>
          <p:cNvSpPr txBox="1"/>
          <p:nvPr/>
        </p:nvSpPr>
        <p:spPr>
          <a:xfrm>
            <a:off x="411479" y="1856810"/>
            <a:ext cx="411480" cy="30059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600">
                <a:solidFill>
                  <a:srgbClr val="FFFFFF"/>
                </a:solidFill>
              </a:defRPr>
            </a:lvl1pPr>
          </a:lstStyle>
          <a:p>
            <a:pPr/>
            <a:r>
              <a:t>02</a:t>
            </a:r>
          </a:p>
        </p:txBody>
      </p:sp>
      <p:sp>
        <p:nvSpPr>
          <p:cNvPr id="48" name="Text 8"/>
          <p:cNvSpPr txBox="1"/>
          <p:nvPr/>
        </p:nvSpPr>
        <p:spPr>
          <a:xfrm>
            <a:off x="1097279" y="1856811"/>
            <a:ext cx="7406642"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600">
                <a:solidFill>
                  <a:srgbClr val="1E293B"/>
                </a:solidFill>
              </a:defRPr>
            </a:lvl1pPr>
          </a:lstStyle>
          <a:p>
            <a:pPr/>
            <a:r>
              <a:t>Missions et activités réalisées</a:t>
            </a:r>
          </a:p>
        </p:txBody>
      </p:sp>
      <p:sp>
        <p:nvSpPr>
          <p:cNvPr id="49" name="Shape 9"/>
          <p:cNvSpPr/>
          <p:nvPr/>
        </p:nvSpPr>
        <p:spPr>
          <a:xfrm>
            <a:off x="365760" y="2302510"/>
            <a:ext cx="8138160" cy="12701"/>
          </a:xfrm>
          <a:prstGeom prst="rect">
            <a:avLst/>
          </a:prstGeom>
          <a:solidFill>
            <a:srgbClr val="E2E8F0"/>
          </a:solidFill>
          <a:ln w="12700">
            <a:solidFill>
              <a:srgbClr val="E2E8F0"/>
            </a:solidFill>
          </a:ln>
        </p:spPr>
        <p:txBody>
          <a:bodyPr lIns="45719" rIns="45719"/>
          <a:lstStyle/>
          <a:p>
            <a:pPr/>
          </a:p>
        </p:txBody>
      </p:sp>
      <p:sp>
        <p:nvSpPr>
          <p:cNvPr id="50" name="Shape 10"/>
          <p:cNvSpPr/>
          <p:nvPr/>
        </p:nvSpPr>
        <p:spPr>
          <a:xfrm>
            <a:off x="365759" y="2505455"/>
            <a:ext cx="502921" cy="502920"/>
          </a:xfrm>
          <a:prstGeom prst="rect">
            <a:avLst/>
          </a:prstGeom>
          <a:solidFill>
            <a:srgbClr val="1A3557"/>
          </a:solidFill>
          <a:ln w="12700">
            <a:solidFill>
              <a:srgbClr val="1A3557"/>
            </a:solidFill>
          </a:ln>
        </p:spPr>
        <p:txBody>
          <a:bodyPr lIns="45719" rIns="45719"/>
          <a:lstStyle/>
          <a:p>
            <a:pPr/>
          </a:p>
        </p:txBody>
      </p:sp>
      <p:sp>
        <p:nvSpPr>
          <p:cNvPr id="51" name="Text 11"/>
          <p:cNvSpPr txBox="1"/>
          <p:nvPr/>
        </p:nvSpPr>
        <p:spPr>
          <a:xfrm>
            <a:off x="411479" y="2606618"/>
            <a:ext cx="411480"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600">
                <a:solidFill>
                  <a:srgbClr val="FFFFFF"/>
                </a:solidFill>
              </a:defRPr>
            </a:lvl1pPr>
          </a:lstStyle>
          <a:p>
            <a:pPr/>
            <a:r>
              <a:t>03</a:t>
            </a:r>
          </a:p>
        </p:txBody>
      </p:sp>
      <p:sp>
        <p:nvSpPr>
          <p:cNvPr id="52" name="Text 12"/>
          <p:cNvSpPr txBox="1"/>
          <p:nvPr/>
        </p:nvSpPr>
        <p:spPr>
          <a:xfrm>
            <a:off x="1097279" y="2606619"/>
            <a:ext cx="7406642"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600">
                <a:solidFill>
                  <a:srgbClr val="1E293B"/>
                </a:solidFill>
              </a:defRPr>
            </a:lvl1pPr>
          </a:lstStyle>
          <a:p>
            <a:pPr/>
            <a:r>
              <a:t>Compétences acquises</a:t>
            </a:r>
          </a:p>
        </p:txBody>
      </p:sp>
      <p:sp>
        <p:nvSpPr>
          <p:cNvPr id="53" name="Shape 13"/>
          <p:cNvSpPr/>
          <p:nvPr/>
        </p:nvSpPr>
        <p:spPr>
          <a:xfrm>
            <a:off x="365760" y="3052317"/>
            <a:ext cx="8138160" cy="12701"/>
          </a:xfrm>
          <a:prstGeom prst="rect">
            <a:avLst/>
          </a:prstGeom>
          <a:solidFill>
            <a:srgbClr val="E2E8F0"/>
          </a:solidFill>
          <a:ln w="12700">
            <a:solidFill>
              <a:srgbClr val="E2E8F0"/>
            </a:solidFill>
          </a:ln>
        </p:spPr>
        <p:txBody>
          <a:bodyPr lIns="45719" rIns="45719"/>
          <a:lstStyle/>
          <a:p>
            <a:pPr/>
          </a:p>
        </p:txBody>
      </p:sp>
      <p:sp>
        <p:nvSpPr>
          <p:cNvPr id="54" name="Shape 14"/>
          <p:cNvSpPr/>
          <p:nvPr/>
        </p:nvSpPr>
        <p:spPr>
          <a:xfrm>
            <a:off x="365759" y="3255264"/>
            <a:ext cx="502921" cy="502920"/>
          </a:xfrm>
          <a:prstGeom prst="rect">
            <a:avLst/>
          </a:prstGeom>
          <a:solidFill>
            <a:srgbClr val="1A3557"/>
          </a:solidFill>
          <a:ln w="12700">
            <a:solidFill>
              <a:srgbClr val="1A3557"/>
            </a:solidFill>
          </a:ln>
        </p:spPr>
        <p:txBody>
          <a:bodyPr lIns="45719" rIns="45719"/>
          <a:lstStyle/>
          <a:p>
            <a:pPr/>
          </a:p>
        </p:txBody>
      </p:sp>
      <p:sp>
        <p:nvSpPr>
          <p:cNvPr id="55" name="Text 15"/>
          <p:cNvSpPr txBox="1"/>
          <p:nvPr/>
        </p:nvSpPr>
        <p:spPr>
          <a:xfrm>
            <a:off x="411479" y="3356426"/>
            <a:ext cx="411480" cy="30059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600">
                <a:solidFill>
                  <a:srgbClr val="FFFFFF"/>
                </a:solidFill>
              </a:defRPr>
            </a:lvl1pPr>
          </a:lstStyle>
          <a:p>
            <a:pPr/>
            <a:r>
              <a:t>04</a:t>
            </a:r>
          </a:p>
        </p:txBody>
      </p:sp>
      <p:sp>
        <p:nvSpPr>
          <p:cNvPr id="56" name="Text 16"/>
          <p:cNvSpPr txBox="1"/>
          <p:nvPr/>
        </p:nvSpPr>
        <p:spPr>
          <a:xfrm>
            <a:off x="1097279" y="3356427"/>
            <a:ext cx="7406642"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600">
                <a:solidFill>
                  <a:srgbClr val="1E293B"/>
                </a:solidFill>
              </a:defRPr>
            </a:lvl1pPr>
          </a:lstStyle>
          <a:p>
            <a:pPr/>
            <a:r>
              <a:t>Bilan personnel</a:t>
            </a:r>
          </a:p>
        </p:txBody>
      </p:sp>
      <p:sp>
        <p:nvSpPr>
          <p:cNvPr id="57" name="Shape 17"/>
          <p:cNvSpPr/>
          <p:nvPr/>
        </p:nvSpPr>
        <p:spPr>
          <a:xfrm>
            <a:off x="365760" y="3802125"/>
            <a:ext cx="8138160" cy="12701"/>
          </a:xfrm>
          <a:prstGeom prst="rect">
            <a:avLst/>
          </a:prstGeom>
          <a:solidFill>
            <a:srgbClr val="E2E8F0"/>
          </a:solidFill>
          <a:ln w="12700">
            <a:solidFill>
              <a:srgbClr val="E2E8F0"/>
            </a:solidFill>
          </a:ln>
        </p:spPr>
        <p:txBody>
          <a:bodyPr lIns="45719" rIns="45719"/>
          <a:lstStyle/>
          <a:p>
            <a:pPr/>
          </a:p>
        </p:txBody>
      </p:sp>
      <p:sp>
        <p:nvSpPr>
          <p:cNvPr id="58" name="Shape 18"/>
          <p:cNvSpPr/>
          <p:nvPr/>
        </p:nvSpPr>
        <p:spPr>
          <a:xfrm>
            <a:off x="365759" y="4005071"/>
            <a:ext cx="502921" cy="502920"/>
          </a:xfrm>
          <a:prstGeom prst="rect">
            <a:avLst/>
          </a:prstGeom>
          <a:solidFill>
            <a:srgbClr val="1A3557"/>
          </a:solidFill>
          <a:ln w="12700">
            <a:solidFill>
              <a:srgbClr val="1A3557"/>
            </a:solidFill>
          </a:ln>
        </p:spPr>
        <p:txBody>
          <a:bodyPr lIns="45719" rIns="45719"/>
          <a:lstStyle/>
          <a:p>
            <a:pPr/>
          </a:p>
        </p:txBody>
      </p:sp>
      <p:sp>
        <p:nvSpPr>
          <p:cNvPr id="59" name="Text 19"/>
          <p:cNvSpPr txBox="1"/>
          <p:nvPr/>
        </p:nvSpPr>
        <p:spPr>
          <a:xfrm>
            <a:off x="411479" y="4106234"/>
            <a:ext cx="411480"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600">
                <a:solidFill>
                  <a:srgbClr val="FFFFFF"/>
                </a:solidFill>
              </a:defRPr>
            </a:lvl1pPr>
          </a:lstStyle>
          <a:p>
            <a:pPr/>
            <a:r>
              <a:t>05</a:t>
            </a:r>
          </a:p>
        </p:txBody>
      </p:sp>
      <p:sp>
        <p:nvSpPr>
          <p:cNvPr id="60" name="Text 20"/>
          <p:cNvSpPr txBox="1"/>
          <p:nvPr/>
        </p:nvSpPr>
        <p:spPr>
          <a:xfrm>
            <a:off x="1097279" y="4106235"/>
            <a:ext cx="7406642"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600">
                <a:solidFill>
                  <a:srgbClr val="1E293B"/>
                </a:solidFill>
              </a:defRPr>
            </a:lvl1pPr>
          </a:lstStyle>
          <a:p>
            <a:pPr/>
            <a:r>
              <a:t>Conclusion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 name="Shape 0"/>
          <p:cNvSpPr/>
          <p:nvPr/>
        </p:nvSpPr>
        <p:spPr>
          <a:xfrm>
            <a:off x="0" y="0"/>
            <a:ext cx="9144000" cy="1005839"/>
          </a:xfrm>
          <a:prstGeom prst="rect">
            <a:avLst/>
          </a:prstGeom>
          <a:solidFill>
            <a:srgbClr val="1A3557"/>
          </a:solidFill>
          <a:ln w="12700">
            <a:solidFill>
              <a:srgbClr val="1A3557"/>
            </a:solidFill>
          </a:ln>
        </p:spPr>
        <p:txBody>
          <a:bodyPr lIns="45719" rIns="45719"/>
          <a:lstStyle/>
          <a:p>
            <a:pPr/>
          </a:p>
        </p:txBody>
      </p:sp>
      <p:sp>
        <p:nvSpPr>
          <p:cNvPr id="63" name="Text 1"/>
          <p:cNvSpPr txBox="1"/>
          <p:nvPr/>
        </p:nvSpPr>
        <p:spPr>
          <a:xfrm>
            <a:off x="502919" y="310232"/>
            <a:ext cx="8138161" cy="3853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2200">
                <a:solidFill>
                  <a:srgbClr val="FFFFFF"/>
                </a:solidFill>
              </a:defRPr>
            </a:lvl1pPr>
          </a:lstStyle>
          <a:p>
            <a:pPr/>
            <a:r>
              <a:t>01  |  PRÉSENTATION DE L'ENTREPRISE</a:t>
            </a:r>
          </a:p>
        </p:txBody>
      </p:sp>
      <p:sp>
        <p:nvSpPr>
          <p:cNvPr id="64" name="Shape 2"/>
          <p:cNvSpPr/>
          <p:nvPr/>
        </p:nvSpPr>
        <p:spPr>
          <a:xfrm>
            <a:off x="365759" y="1143000"/>
            <a:ext cx="3931922" cy="45721"/>
          </a:xfrm>
          <a:prstGeom prst="rect">
            <a:avLst/>
          </a:prstGeom>
          <a:solidFill>
            <a:srgbClr val="0891B2"/>
          </a:solidFill>
          <a:ln w="12700">
            <a:solidFill>
              <a:srgbClr val="0891B2"/>
            </a:solidFill>
          </a:ln>
        </p:spPr>
        <p:txBody>
          <a:bodyPr lIns="45719" rIns="45719"/>
          <a:lstStyle/>
          <a:p>
            <a:pPr/>
          </a:p>
        </p:txBody>
      </p:sp>
      <p:sp>
        <p:nvSpPr>
          <p:cNvPr id="65" name="Text 3"/>
          <p:cNvSpPr txBox="1"/>
          <p:nvPr/>
        </p:nvSpPr>
        <p:spPr>
          <a:xfrm>
            <a:off x="365759" y="1316027"/>
            <a:ext cx="39319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200">
                <a:solidFill>
                  <a:srgbClr val="1A3557"/>
                </a:solidFill>
              </a:defRPr>
            </a:lvl1pPr>
          </a:lstStyle>
          <a:p>
            <a:pPr/>
            <a:r>
              <a:t>INFORMATIONS GÉNÉRALES</a:t>
            </a:r>
          </a:p>
        </p:txBody>
      </p:sp>
      <p:sp>
        <p:nvSpPr>
          <p:cNvPr id="66" name="Shape 4"/>
          <p:cNvSpPr/>
          <p:nvPr/>
        </p:nvSpPr>
        <p:spPr>
          <a:xfrm>
            <a:off x="365759" y="1600200"/>
            <a:ext cx="3931922" cy="411481"/>
          </a:xfrm>
          <a:prstGeom prst="rect">
            <a:avLst/>
          </a:prstGeom>
          <a:solidFill>
            <a:srgbClr val="EFF6FF"/>
          </a:solidFill>
          <a:ln w="12700">
            <a:solidFill>
              <a:srgbClr val="93C5FD"/>
            </a:solidFill>
            <a:prstDash val="dash"/>
          </a:ln>
        </p:spPr>
        <p:txBody>
          <a:bodyPr lIns="45719" rIns="45719"/>
          <a:lstStyle/>
          <a:p>
            <a:pPr/>
          </a:p>
        </p:txBody>
      </p:sp>
      <p:sp>
        <p:nvSpPr>
          <p:cNvPr id="67" name="Text 5"/>
          <p:cNvSpPr txBox="1"/>
          <p:nvPr/>
        </p:nvSpPr>
        <p:spPr>
          <a:xfrm>
            <a:off x="365759" y="1662606"/>
            <a:ext cx="3931922" cy="286668"/>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Apynow Consulting </a:t>
            </a:r>
          </a:p>
        </p:txBody>
      </p:sp>
      <p:sp>
        <p:nvSpPr>
          <p:cNvPr id="68" name="Shape 6"/>
          <p:cNvSpPr/>
          <p:nvPr/>
        </p:nvSpPr>
        <p:spPr>
          <a:xfrm>
            <a:off x="365759" y="2148839"/>
            <a:ext cx="3931922" cy="411481"/>
          </a:xfrm>
          <a:prstGeom prst="rect">
            <a:avLst/>
          </a:prstGeom>
          <a:solidFill>
            <a:srgbClr val="EFF6FF"/>
          </a:solidFill>
          <a:ln w="12700">
            <a:solidFill>
              <a:srgbClr val="93C5FD"/>
            </a:solidFill>
            <a:prstDash val="dash"/>
          </a:ln>
        </p:spPr>
        <p:txBody>
          <a:bodyPr lIns="45719" rIns="45719"/>
          <a:lstStyle/>
          <a:p>
            <a:pPr/>
          </a:p>
        </p:txBody>
      </p:sp>
      <p:sp>
        <p:nvSpPr>
          <p:cNvPr id="69" name="Text 7"/>
          <p:cNvSpPr txBox="1"/>
          <p:nvPr/>
        </p:nvSpPr>
        <p:spPr>
          <a:xfrm>
            <a:off x="365759" y="2211246"/>
            <a:ext cx="3931922" cy="286668"/>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Autres activités de service informatique</a:t>
            </a:r>
          </a:p>
        </p:txBody>
      </p:sp>
      <p:sp>
        <p:nvSpPr>
          <p:cNvPr id="70" name="Shape 8"/>
          <p:cNvSpPr/>
          <p:nvPr/>
        </p:nvSpPr>
        <p:spPr>
          <a:xfrm>
            <a:off x="365759" y="2697479"/>
            <a:ext cx="3931922" cy="411481"/>
          </a:xfrm>
          <a:prstGeom prst="rect">
            <a:avLst/>
          </a:prstGeom>
          <a:solidFill>
            <a:srgbClr val="EFF6FF"/>
          </a:solidFill>
          <a:ln w="12700">
            <a:solidFill>
              <a:srgbClr val="93C5FD"/>
            </a:solidFill>
            <a:prstDash val="dash"/>
          </a:ln>
        </p:spPr>
        <p:txBody>
          <a:bodyPr lIns="45719" rIns="45719"/>
          <a:lstStyle/>
          <a:p>
            <a:pPr/>
          </a:p>
        </p:txBody>
      </p:sp>
      <p:sp>
        <p:nvSpPr>
          <p:cNvPr id="71" name="Text 9"/>
          <p:cNvSpPr txBox="1"/>
          <p:nvPr/>
        </p:nvSpPr>
        <p:spPr>
          <a:xfrm>
            <a:off x="365759" y="2759885"/>
            <a:ext cx="3931922" cy="2866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SAS, société par actions simplifiée</a:t>
            </a:r>
          </a:p>
        </p:txBody>
      </p:sp>
      <p:sp>
        <p:nvSpPr>
          <p:cNvPr id="72" name="Shape 10"/>
          <p:cNvSpPr/>
          <p:nvPr/>
        </p:nvSpPr>
        <p:spPr>
          <a:xfrm>
            <a:off x="365759" y="3246120"/>
            <a:ext cx="3931922" cy="411481"/>
          </a:xfrm>
          <a:prstGeom prst="rect">
            <a:avLst/>
          </a:prstGeom>
          <a:solidFill>
            <a:srgbClr val="EFF6FF"/>
          </a:solidFill>
          <a:ln w="12700">
            <a:solidFill>
              <a:srgbClr val="93C5FD"/>
            </a:solidFill>
            <a:prstDash val="dash"/>
          </a:ln>
        </p:spPr>
        <p:txBody>
          <a:bodyPr lIns="45719" rIns="45719"/>
          <a:lstStyle/>
          <a:p>
            <a:pPr/>
          </a:p>
        </p:txBody>
      </p:sp>
      <p:sp>
        <p:nvSpPr>
          <p:cNvPr id="73" name="Text 11"/>
          <p:cNvSpPr txBox="1"/>
          <p:nvPr/>
        </p:nvSpPr>
        <p:spPr>
          <a:xfrm>
            <a:off x="365759" y="3225976"/>
            <a:ext cx="3931922" cy="4517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PORTE 7H -  2EME ETAGE 7 AVENUE LOUIS PASTEUR 97300 CAYENNE</a:t>
            </a:r>
          </a:p>
        </p:txBody>
      </p:sp>
      <p:sp>
        <p:nvSpPr>
          <p:cNvPr id="74" name="Shape 12"/>
          <p:cNvSpPr/>
          <p:nvPr/>
        </p:nvSpPr>
        <p:spPr>
          <a:xfrm>
            <a:off x="4480559" y="1143000"/>
            <a:ext cx="4297681" cy="45721"/>
          </a:xfrm>
          <a:prstGeom prst="rect">
            <a:avLst/>
          </a:prstGeom>
          <a:solidFill>
            <a:srgbClr val="0891B2"/>
          </a:solidFill>
          <a:ln w="12700">
            <a:solidFill>
              <a:srgbClr val="0891B2"/>
            </a:solidFill>
          </a:ln>
        </p:spPr>
        <p:txBody>
          <a:bodyPr lIns="45719" rIns="45719"/>
          <a:lstStyle/>
          <a:p>
            <a:pPr/>
          </a:p>
        </p:txBody>
      </p:sp>
      <p:sp>
        <p:nvSpPr>
          <p:cNvPr id="75" name="Text 13"/>
          <p:cNvSpPr txBox="1"/>
          <p:nvPr/>
        </p:nvSpPr>
        <p:spPr>
          <a:xfrm>
            <a:off x="4480559" y="1316027"/>
            <a:ext cx="42976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200">
                <a:solidFill>
                  <a:srgbClr val="1A3557"/>
                </a:solidFill>
              </a:defRPr>
            </a:lvl1pPr>
          </a:lstStyle>
          <a:p>
            <a:pPr/>
            <a:r>
              <a:t>CONTEXTE DU STAGE</a:t>
            </a:r>
          </a:p>
        </p:txBody>
      </p:sp>
      <p:sp>
        <p:nvSpPr>
          <p:cNvPr id="76" name="Shape 14"/>
          <p:cNvSpPr/>
          <p:nvPr/>
        </p:nvSpPr>
        <p:spPr>
          <a:xfrm>
            <a:off x="4480559" y="1600200"/>
            <a:ext cx="4297681" cy="411481"/>
          </a:xfrm>
          <a:prstGeom prst="rect">
            <a:avLst/>
          </a:prstGeom>
          <a:solidFill>
            <a:srgbClr val="EFF6FF"/>
          </a:solidFill>
          <a:ln w="12700">
            <a:solidFill>
              <a:srgbClr val="93C5FD"/>
            </a:solidFill>
            <a:prstDash val="dash"/>
          </a:ln>
        </p:spPr>
        <p:txBody>
          <a:bodyPr lIns="45719" rIns="45719"/>
          <a:lstStyle/>
          <a:p>
            <a:pPr/>
          </a:p>
        </p:txBody>
      </p:sp>
      <p:sp>
        <p:nvSpPr>
          <p:cNvPr id="77" name="Text 15"/>
          <p:cNvSpPr txBox="1"/>
          <p:nvPr/>
        </p:nvSpPr>
        <p:spPr>
          <a:xfrm>
            <a:off x="4480559" y="1662606"/>
            <a:ext cx="4297681" cy="286668"/>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M. LEBLANC  Georges-Antoine</a:t>
            </a:r>
          </a:p>
        </p:txBody>
      </p:sp>
      <p:sp>
        <p:nvSpPr>
          <p:cNvPr id="78" name="Shape 18"/>
          <p:cNvSpPr/>
          <p:nvPr/>
        </p:nvSpPr>
        <p:spPr>
          <a:xfrm>
            <a:off x="4480559" y="2148838"/>
            <a:ext cx="4297681" cy="411482"/>
          </a:xfrm>
          <a:prstGeom prst="rect">
            <a:avLst/>
          </a:prstGeom>
          <a:solidFill>
            <a:srgbClr val="EFF6FF"/>
          </a:solidFill>
          <a:ln w="12700">
            <a:solidFill>
              <a:srgbClr val="93C5FD"/>
            </a:solidFill>
            <a:prstDash val="dash"/>
          </a:ln>
        </p:spPr>
        <p:txBody>
          <a:bodyPr lIns="45719" rIns="45719"/>
          <a:lstStyle/>
          <a:p>
            <a:pPr/>
          </a:p>
        </p:txBody>
      </p:sp>
      <p:sp>
        <p:nvSpPr>
          <p:cNvPr id="79" name="Text 19"/>
          <p:cNvSpPr txBox="1"/>
          <p:nvPr/>
        </p:nvSpPr>
        <p:spPr>
          <a:xfrm>
            <a:off x="4480559" y="2148838"/>
            <a:ext cx="4297681" cy="502569"/>
          </a:xfrm>
          <a:prstGeom prst="rect">
            <a:avLst/>
          </a:prstGeom>
          <a:ln w="12700">
            <a:miter lim="400000"/>
          </a:ln>
          <a:extLst>
            <a:ext uri="{C572A759-6A51-4108-AA02-DFA0A04FC94B}">
              <ma14:wrappingTextBoxFlag xmlns:ma14="http://schemas.microsoft.com/office/mac/drawingml/2011/main" val="1"/>
            </a:ext>
          </a:extLst>
        </p:spPr>
        <p:txBody>
          <a:bodyPr lIns="101600" tIns="101600" rIns="101600" bIns="101600">
            <a:spAutoFit/>
          </a:bodyPr>
          <a:lstStyle/>
          <a:p>
            <a:pPr>
              <a:defRPr i="1" sz="1100">
                <a:solidFill>
                  <a:srgbClr val="3B82F6"/>
                </a:solidFill>
              </a:defRPr>
            </a:pPr>
            <a:r>
              <a:t>Creation de sites web, dashboards, sites vitrines, applications… pour d’autres </a:t>
            </a:r>
            <a:r>
              <a:t>entreprises</a:t>
            </a:r>
          </a:p>
        </p:txBody>
      </p:sp>
      <p:sp>
        <p:nvSpPr>
          <p:cNvPr id="80" name="Shape 20"/>
          <p:cNvSpPr/>
          <p:nvPr/>
        </p:nvSpPr>
        <p:spPr>
          <a:xfrm>
            <a:off x="4251959" y="1005839"/>
            <a:ext cx="36577" cy="3657601"/>
          </a:xfrm>
          <a:prstGeom prst="rect">
            <a:avLst/>
          </a:prstGeom>
          <a:solidFill>
            <a:srgbClr val="E2E8F0"/>
          </a:solidFill>
          <a:ln w="12700">
            <a:solidFill>
              <a:srgbClr val="E2E8F0"/>
            </a:solidFill>
          </a:ln>
        </p:spPr>
        <p:txBody>
          <a:bodyPr lIns="45719" rIns="45719"/>
          <a:lstStyle/>
          <a:p>
            <a:pPr/>
          </a:p>
        </p:txBody>
      </p:sp>
      <p:sp>
        <p:nvSpPr>
          <p:cNvPr id="81" name="Shape 21"/>
          <p:cNvSpPr/>
          <p:nvPr/>
        </p:nvSpPr>
        <p:spPr>
          <a:xfrm>
            <a:off x="0" y="4937759"/>
            <a:ext cx="9144000" cy="205741"/>
          </a:xfrm>
          <a:prstGeom prst="rect">
            <a:avLst/>
          </a:prstGeom>
          <a:solidFill>
            <a:srgbClr val="1A3557"/>
          </a:solidFill>
          <a:ln w="12700">
            <a:solidFill>
              <a:srgbClr val="1A3557"/>
            </a:solidFill>
          </a:ln>
        </p:spPr>
        <p:txBody>
          <a:bodyPr lIns="45719" rIns="45719"/>
          <a:lstStyle/>
          <a:p>
            <a:pPr/>
          </a:p>
        </p:txBody>
      </p:sp>
      <p:sp>
        <p:nvSpPr>
          <p:cNvPr id="82" name="Text 22"/>
          <p:cNvSpPr txBox="1"/>
          <p:nvPr/>
        </p:nvSpPr>
        <p:spPr>
          <a:xfrm>
            <a:off x="320040" y="4935387"/>
            <a:ext cx="8503920"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93C5FD"/>
                </a:solidFill>
              </a:defRPr>
            </a:lvl1pPr>
          </a:lstStyle>
          <a:p>
            <a:pPr/>
            <a:r>
              <a:t>Rapport de stage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5F9"/>
        </a:solidFill>
      </p:bgPr>
    </p:bg>
    <p:spTree>
      <p:nvGrpSpPr>
        <p:cNvPr id="1" name=""/>
        <p:cNvGrpSpPr/>
        <p:nvPr/>
      </p:nvGrpSpPr>
      <p:grpSpPr>
        <a:xfrm>
          <a:off x="0" y="0"/>
          <a:ext cx="0" cy="0"/>
          <a:chOff x="0" y="0"/>
          <a:chExt cx="0" cy="0"/>
        </a:xfrm>
      </p:grpSpPr>
      <p:sp>
        <p:nvSpPr>
          <p:cNvPr id="84" name="Shape 0"/>
          <p:cNvSpPr/>
          <p:nvPr/>
        </p:nvSpPr>
        <p:spPr>
          <a:xfrm>
            <a:off x="0" y="0"/>
            <a:ext cx="9144000" cy="1005839"/>
          </a:xfrm>
          <a:prstGeom prst="rect">
            <a:avLst/>
          </a:prstGeom>
          <a:solidFill>
            <a:srgbClr val="0891B2"/>
          </a:solidFill>
          <a:ln w="12700">
            <a:solidFill>
              <a:srgbClr val="0891B2"/>
            </a:solidFill>
          </a:ln>
        </p:spPr>
        <p:txBody>
          <a:bodyPr lIns="45719" rIns="45719"/>
          <a:lstStyle/>
          <a:p>
            <a:pPr/>
          </a:p>
        </p:txBody>
      </p:sp>
      <p:sp>
        <p:nvSpPr>
          <p:cNvPr id="85" name="Text 1"/>
          <p:cNvSpPr txBox="1"/>
          <p:nvPr/>
        </p:nvSpPr>
        <p:spPr>
          <a:xfrm>
            <a:off x="502919" y="310232"/>
            <a:ext cx="8138161" cy="3853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2200">
                <a:solidFill>
                  <a:srgbClr val="FFFFFF"/>
                </a:solidFill>
              </a:defRPr>
            </a:lvl1pPr>
          </a:lstStyle>
          <a:p>
            <a:pPr/>
            <a:r>
              <a:t>02  |  MISSIONS ET ACTIVITÉS RÉALISÉES</a:t>
            </a:r>
          </a:p>
        </p:txBody>
      </p:sp>
      <p:sp>
        <p:nvSpPr>
          <p:cNvPr id="86" name="Shape 2"/>
          <p:cNvSpPr/>
          <p:nvPr/>
        </p:nvSpPr>
        <p:spPr>
          <a:xfrm>
            <a:off x="274320" y="1097280"/>
            <a:ext cx="2743201" cy="3657601"/>
          </a:xfrm>
          <a:prstGeom prst="rect">
            <a:avLst/>
          </a:prstGeom>
          <a:solidFill>
            <a:srgbClr val="FFFFFF"/>
          </a:solidFill>
          <a:ln w="12700">
            <a:solidFill>
              <a:srgbClr val="E2E8F0"/>
            </a:solidFill>
          </a:ln>
        </p:spPr>
        <p:txBody>
          <a:bodyPr lIns="45719" rIns="45719"/>
          <a:lstStyle/>
          <a:p>
            <a:pPr/>
          </a:p>
        </p:txBody>
      </p:sp>
      <p:sp>
        <p:nvSpPr>
          <p:cNvPr id="87" name="Shape 3"/>
          <p:cNvSpPr/>
          <p:nvPr/>
        </p:nvSpPr>
        <p:spPr>
          <a:xfrm>
            <a:off x="274320" y="1097280"/>
            <a:ext cx="2743201" cy="457201"/>
          </a:xfrm>
          <a:prstGeom prst="rect">
            <a:avLst/>
          </a:prstGeom>
          <a:solidFill>
            <a:srgbClr val="1A3557"/>
          </a:solidFill>
          <a:ln w="12700">
            <a:solidFill>
              <a:srgbClr val="1A3557"/>
            </a:solidFill>
          </a:ln>
        </p:spPr>
        <p:txBody>
          <a:bodyPr lIns="45719" rIns="45719"/>
          <a:lstStyle/>
          <a:p>
            <a:pPr/>
          </a:p>
        </p:txBody>
      </p:sp>
      <p:sp>
        <p:nvSpPr>
          <p:cNvPr id="88" name="Text 4"/>
          <p:cNvSpPr txBox="1"/>
          <p:nvPr/>
        </p:nvSpPr>
        <p:spPr>
          <a:xfrm>
            <a:off x="320040" y="1196779"/>
            <a:ext cx="2651761"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MISSION 1</a:t>
            </a:r>
          </a:p>
        </p:txBody>
      </p:sp>
      <p:sp>
        <p:nvSpPr>
          <p:cNvPr id="89" name="Shape 5"/>
          <p:cNvSpPr/>
          <p:nvPr/>
        </p:nvSpPr>
        <p:spPr>
          <a:xfrm>
            <a:off x="411479" y="1645920"/>
            <a:ext cx="2468882" cy="411481"/>
          </a:xfrm>
          <a:prstGeom prst="rect">
            <a:avLst/>
          </a:prstGeom>
          <a:solidFill>
            <a:srgbClr val="EFF6FF"/>
          </a:solidFill>
          <a:ln w="12700">
            <a:solidFill>
              <a:srgbClr val="93C5FD"/>
            </a:solidFill>
            <a:prstDash val="dash"/>
          </a:ln>
        </p:spPr>
        <p:txBody>
          <a:bodyPr lIns="45719" rIns="45719"/>
          <a:lstStyle/>
          <a:p>
            <a:pPr/>
          </a:p>
        </p:txBody>
      </p:sp>
      <p:sp>
        <p:nvSpPr>
          <p:cNvPr id="90" name="Text 6"/>
          <p:cNvSpPr txBox="1"/>
          <p:nvPr/>
        </p:nvSpPr>
        <p:spPr>
          <a:xfrm>
            <a:off x="411479" y="1708326"/>
            <a:ext cx="2468882" cy="286668"/>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Brainstorming</a:t>
            </a:r>
          </a:p>
        </p:txBody>
      </p:sp>
      <p:sp>
        <p:nvSpPr>
          <p:cNvPr id="91" name="Text 7"/>
          <p:cNvSpPr txBox="1"/>
          <p:nvPr/>
        </p:nvSpPr>
        <p:spPr>
          <a:xfrm>
            <a:off x="457199" y="2171744"/>
            <a:ext cx="237744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64748B"/>
                </a:solidFill>
              </a:defRPr>
            </a:lvl1pPr>
          </a:lstStyle>
          <a:p>
            <a:pPr/>
            <a:r>
              <a:t>Description :</a:t>
            </a:r>
          </a:p>
        </p:txBody>
      </p:sp>
      <p:sp>
        <p:nvSpPr>
          <p:cNvPr id="92" name="Shape 8"/>
          <p:cNvSpPr/>
          <p:nvPr/>
        </p:nvSpPr>
        <p:spPr>
          <a:xfrm>
            <a:off x="411479" y="2423160"/>
            <a:ext cx="2468882" cy="1371601"/>
          </a:xfrm>
          <a:prstGeom prst="rect">
            <a:avLst/>
          </a:prstGeom>
          <a:solidFill>
            <a:srgbClr val="EFF6FF"/>
          </a:solidFill>
          <a:ln w="12700">
            <a:solidFill>
              <a:srgbClr val="93C5FD"/>
            </a:solidFill>
            <a:prstDash val="dash"/>
          </a:ln>
        </p:spPr>
        <p:txBody>
          <a:bodyPr lIns="45719" rIns="45719"/>
          <a:lstStyle/>
          <a:p>
            <a:pPr/>
          </a:p>
        </p:txBody>
      </p:sp>
      <p:sp>
        <p:nvSpPr>
          <p:cNvPr id="93" name="Text 9"/>
          <p:cNvSpPr txBox="1"/>
          <p:nvPr/>
        </p:nvSpPr>
        <p:spPr>
          <a:xfrm>
            <a:off x="411479" y="2423160"/>
            <a:ext cx="2468882" cy="667668"/>
          </a:xfrm>
          <a:prstGeom prst="rect">
            <a:avLst/>
          </a:prstGeom>
          <a:ln w="12700">
            <a:miter lim="400000"/>
          </a:ln>
          <a:extLst>
            <a:ext uri="{C572A759-6A51-4108-AA02-DFA0A04FC94B}">
              <ma14:wrappingTextBoxFlag xmlns:ma14="http://schemas.microsoft.com/office/mac/drawingml/2011/main" val="1"/>
            </a:ext>
          </a:extLst>
        </p:spPr>
        <p:txBody>
          <a:bodyPr lIns="101600" tIns="101600" rIns="101600" bIns="101600">
            <a:spAutoFit/>
          </a:bodyPr>
          <a:lstStyle/>
          <a:p>
            <a:pPr marL="342900" indent="-342900">
              <a:buSzPct val="100000"/>
              <a:buChar char="•"/>
              <a:defRPr i="1" sz="1100">
                <a:solidFill>
                  <a:srgbClr val="3B82F6"/>
                </a:solidFill>
              </a:defRPr>
            </a:pPr>
            <a:r>
              <a:t>Trouver un design pour le site </a:t>
            </a:r>
          </a:p>
          <a:p>
            <a:pPr marL="342900" indent="-342900">
              <a:buSzPct val="100000"/>
              <a:buChar char="•"/>
              <a:defRPr i="1" sz="1100">
                <a:solidFill>
                  <a:srgbClr val="3B82F6"/>
                </a:solidFill>
              </a:defRPr>
            </a:pPr>
            <a:r>
              <a:t>Canva, GAMMA</a:t>
            </a:r>
          </a:p>
          <a:p>
            <a:pPr marL="342900" indent="-342900">
              <a:buSzPct val="100000"/>
              <a:buChar char="•"/>
              <a:defRPr i="1" sz="1100">
                <a:solidFill>
                  <a:srgbClr val="3B82F6"/>
                </a:solidFill>
              </a:defRPr>
            </a:pPr>
            <a:r>
              <a:t>Résultat obtenu...</a:t>
            </a:r>
          </a:p>
        </p:txBody>
      </p:sp>
      <p:sp>
        <p:nvSpPr>
          <p:cNvPr id="94" name="Text 10"/>
          <p:cNvSpPr txBox="1"/>
          <p:nvPr/>
        </p:nvSpPr>
        <p:spPr>
          <a:xfrm>
            <a:off x="457200" y="3909104"/>
            <a:ext cx="73152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64748B"/>
                </a:solidFill>
              </a:defRPr>
            </a:lvl1pPr>
          </a:lstStyle>
          <a:p>
            <a:pPr/>
            <a:r>
              <a:t>Durée :</a:t>
            </a:r>
          </a:p>
        </p:txBody>
      </p:sp>
      <p:sp>
        <p:nvSpPr>
          <p:cNvPr id="95" name="Shape 11"/>
          <p:cNvSpPr/>
          <p:nvPr/>
        </p:nvSpPr>
        <p:spPr>
          <a:xfrm>
            <a:off x="1234439" y="3886200"/>
            <a:ext cx="1645922" cy="274321"/>
          </a:xfrm>
          <a:prstGeom prst="rect">
            <a:avLst/>
          </a:prstGeom>
          <a:solidFill>
            <a:srgbClr val="EFF6FF"/>
          </a:solidFill>
          <a:ln w="12700">
            <a:solidFill>
              <a:srgbClr val="93C5FD"/>
            </a:solidFill>
            <a:prstDash val="dash"/>
          </a:ln>
        </p:spPr>
        <p:txBody>
          <a:bodyPr lIns="45719" rIns="45719"/>
          <a:lstStyle/>
          <a:p>
            <a:pPr/>
          </a:p>
        </p:txBody>
      </p:sp>
      <p:sp>
        <p:nvSpPr>
          <p:cNvPr id="96" name="Text 12"/>
          <p:cNvSpPr txBox="1"/>
          <p:nvPr/>
        </p:nvSpPr>
        <p:spPr>
          <a:xfrm>
            <a:off x="1234439" y="3880025"/>
            <a:ext cx="1645922" cy="2866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03 jours</a:t>
            </a:r>
          </a:p>
        </p:txBody>
      </p:sp>
      <p:sp>
        <p:nvSpPr>
          <p:cNvPr id="97" name="Shape 13"/>
          <p:cNvSpPr/>
          <p:nvPr/>
        </p:nvSpPr>
        <p:spPr>
          <a:xfrm>
            <a:off x="274320" y="4297679"/>
            <a:ext cx="2743201" cy="36577"/>
          </a:xfrm>
          <a:prstGeom prst="rect">
            <a:avLst/>
          </a:prstGeom>
          <a:solidFill>
            <a:srgbClr val="F59E0B"/>
          </a:solidFill>
          <a:ln w="12700">
            <a:solidFill>
              <a:srgbClr val="F59E0B"/>
            </a:solidFill>
          </a:ln>
        </p:spPr>
        <p:txBody>
          <a:bodyPr lIns="45719" rIns="45719"/>
          <a:lstStyle/>
          <a:p>
            <a:pPr/>
          </a:p>
        </p:txBody>
      </p:sp>
      <p:sp>
        <p:nvSpPr>
          <p:cNvPr id="98" name="Shape 14"/>
          <p:cNvSpPr/>
          <p:nvPr/>
        </p:nvSpPr>
        <p:spPr>
          <a:xfrm>
            <a:off x="3246120" y="1097280"/>
            <a:ext cx="2743201" cy="3657601"/>
          </a:xfrm>
          <a:prstGeom prst="rect">
            <a:avLst/>
          </a:prstGeom>
          <a:solidFill>
            <a:srgbClr val="FFFFFF"/>
          </a:solidFill>
          <a:ln w="12700">
            <a:solidFill>
              <a:srgbClr val="E2E8F0"/>
            </a:solidFill>
          </a:ln>
        </p:spPr>
        <p:txBody>
          <a:bodyPr lIns="45719" rIns="45719"/>
          <a:lstStyle/>
          <a:p>
            <a:pPr/>
          </a:p>
        </p:txBody>
      </p:sp>
      <p:sp>
        <p:nvSpPr>
          <p:cNvPr id="99" name="Shape 15"/>
          <p:cNvSpPr/>
          <p:nvPr/>
        </p:nvSpPr>
        <p:spPr>
          <a:xfrm>
            <a:off x="3246120" y="1097280"/>
            <a:ext cx="2743201" cy="457201"/>
          </a:xfrm>
          <a:prstGeom prst="rect">
            <a:avLst/>
          </a:prstGeom>
          <a:solidFill>
            <a:srgbClr val="1A3557"/>
          </a:solidFill>
          <a:ln w="12700">
            <a:solidFill>
              <a:srgbClr val="1A3557"/>
            </a:solidFill>
          </a:ln>
        </p:spPr>
        <p:txBody>
          <a:bodyPr lIns="45719" rIns="45719"/>
          <a:lstStyle/>
          <a:p>
            <a:pPr/>
          </a:p>
        </p:txBody>
      </p:sp>
      <p:sp>
        <p:nvSpPr>
          <p:cNvPr id="100" name="Text 16"/>
          <p:cNvSpPr txBox="1"/>
          <p:nvPr/>
        </p:nvSpPr>
        <p:spPr>
          <a:xfrm>
            <a:off x="3291840" y="1196779"/>
            <a:ext cx="2651761"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MISSION 2</a:t>
            </a:r>
          </a:p>
        </p:txBody>
      </p:sp>
      <p:sp>
        <p:nvSpPr>
          <p:cNvPr id="101" name="Shape 17"/>
          <p:cNvSpPr/>
          <p:nvPr/>
        </p:nvSpPr>
        <p:spPr>
          <a:xfrm>
            <a:off x="3383279" y="1645920"/>
            <a:ext cx="2468882" cy="411481"/>
          </a:xfrm>
          <a:prstGeom prst="rect">
            <a:avLst/>
          </a:prstGeom>
          <a:solidFill>
            <a:srgbClr val="EFF6FF"/>
          </a:solidFill>
          <a:ln w="12700">
            <a:solidFill>
              <a:srgbClr val="93C5FD"/>
            </a:solidFill>
            <a:prstDash val="dash"/>
          </a:ln>
        </p:spPr>
        <p:txBody>
          <a:bodyPr lIns="45719" rIns="45719"/>
          <a:lstStyle/>
          <a:p>
            <a:pPr/>
          </a:p>
        </p:txBody>
      </p:sp>
      <p:sp>
        <p:nvSpPr>
          <p:cNvPr id="102" name="Text 18"/>
          <p:cNvSpPr txBox="1"/>
          <p:nvPr/>
        </p:nvSpPr>
        <p:spPr>
          <a:xfrm>
            <a:off x="3383279" y="1708326"/>
            <a:ext cx="2468882" cy="286668"/>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Réalisation du site </a:t>
            </a:r>
          </a:p>
        </p:txBody>
      </p:sp>
      <p:sp>
        <p:nvSpPr>
          <p:cNvPr id="103" name="Text 19"/>
          <p:cNvSpPr txBox="1"/>
          <p:nvPr/>
        </p:nvSpPr>
        <p:spPr>
          <a:xfrm>
            <a:off x="3429000" y="2171744"/>
            <a:ext cx="23774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64748B"/>
                </a:solidFill>
              </a:defRPr>
            </a:lvl1pPr>
          </a:lstStyle>
          <a:p>
            <a:pPr/>
            <a:r>
              <a:t>Description :</a:t>
            </a:r>
          </a:p>
        </p:txBody>
      </p:sp>
      <p:sp>
        <p:nvSpPr>
          <p:cNvPr id="104" name="Shape 20"/>
          <p:cNvSpPr/>
          <p:nvPr/>
        </p:nvSpPr>
        <p:spPr>
          <a:xfrm>
            <a:off x="3383279" y="2423160"/>
            <a:ext cx="2468882" cy="1371601"/>
          </a:xfrm>
          <a:prstGeom prst="rect">
            <a:avLst/>
          </a:prstGeom>
          <a:solidFill>
            <a:srgbClr val="EFF6FF"/>
          </a:solidFill>
          <a:ln w="12700">
            <a:solidFill>
              <a:srgbClr val="93C5FD"/>
            </a:solidFill>
            <a:prstDash val="dash"/>
          </a:ln>
        </p:spPr>
        <p:txBody>
          <a:bodyPr lIns="45719" rIns="45719"/>
          <a:lstStyle/>
          <a:p>
            <a:pPr/>
          </a:p>
        </p:txBody>
      </p:sp>
      <p:sp>
        <p:nvSpPr>
          <p:cNvPr id="105" name="Text 21"/>
          <p:cNvSpPr txBox="1"/>
          <p:nvPr/>
        </p:nvSpPr>
        <p:spPr>
          <a:xfrm>
            <a:off x="3383279" y="2423160"/>
            <a:ext cx="2468882" cy="667668"/>
          </a:xfrm>
          <a:prstGeom prst="rect">
            <a:avLst/>
          </a:prstGeom>
          <a:ln w="12700">
            <a:miter lim="400000"/>
          </a:ln>
          <a:extLst>
            <a:ext uri="{C572A759-6A51-4108-AA02-DFA0A04FC94B}">
              <ma14:wrappingTextBoxFlag xmlns:ma14="http://schemas.microsoft.com/office/mac/drawingml/2011/main" val="1"/>
            </a:ext>
          </a:extLst>
        </p:spPr>
        <p:txBody>
          <a:bodyPr lIns="101600" tIns="101600" rIns="101600" bIns="101600">
            <a:spAutoFit/>
          </a:bodyPr>
          <a:lstStyle/>
          <a:p>
            <a:pPr marL="342900" indent="-342900">
              <a:buSzPct val="100000"/>
              <a:buChar char="•"/>
              <a:defRPr i="1" sz="1100">
                <a:solidFill>
                  <a:srgbClr val="3B82F6"/>
                </a:solidFill>
              </a:defRPr>
            </a:pPr>
            <a:r>
              <a:t>Création de l’interface du site </a:t>
            </a:r>
          </a:p>
          <a:p>
            <a:pPr marL="342900" indent="-342900">
              <a:buSzPct val="100000"/>
              <a:buChar char="•"/>
              <a:defRPr i="1" sz="1100">
                <a:solidFill>
                  <a:srgbClr val="3B82F6"/>
                </a:solidFill>
              </a:defRPr>
            </a:pPr>
            <a:r>
              <a:t>VSCode/WAMP-SERVER</a:t>
            </a:r>
          </a:p>
          <a:p>
            <a:pPr marL="342900" indent="-342900">
              <a:buSzPct val="100000"/>
              <a:buChar char="•"/>
              <a:defRPr i="1" sz="1100">
                <a:solidFill>
                  <a:srgbClr val="3B82F6"/>
                </a:solidFill>
              </a:defRPr>
            </a:pPr>
            <a:r>
              <a:t>Résultat obtenu...</a:t>
            </a:r>
          </a:p>
        </p:txBody>
      </p:sp>
      <p:sp>
        <p:nvSpPr>
          <p:cNvPr id="106" name="Text 22"/>
          <p:cNvSpPr txBox="1"/>
          <p:nvPr/>
        </p:nvSpPr>
        <p:spPr>
          <a:xfrm>
            <a:off x="3429000" y="3909104"/>
            <a:ext cx="73152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64748B"/>
                </a:solidFill>
              </a:defRPr>
            </a:lvl1pPr>
          </a:lstStyle>
          <a:p>
            <a:pPr/>
            <a:r>
              <a:t>Durée :</a:t>
            </a:r>
          </a:p>
        </p:txBody>
      </p:sp>
      <p:sp>
        <p:nvSpPr>
          <p:cNvPr id="107" name="Shape 23"/>
          <p:cNvSpPr/>
          <p:nvPr/>
        </p:nvSpPr>
        <p:spPr>
          <a:xfrm>
            <a:off x="4206240" y="3886200"/>
            <a:ext cx="1645921" cy="274321"/>
          </a:xfrm>
          <a:prstGeom prst="rect">
            <a:avLst/>
          </a:prstGeom>
          <a:solidFill>
            <a:srgbClr val="EFF6FF"/>
          </a:solidFill>
          <a:ln w="12700">
            <a:solidFill>
              <a:srgbClr val="93C5FD"/>
            </a:solidFill>
            <a:prstDash val="dash"/>
          </a:ln>
        </p:spPr>
        <p:txBody>
          <a:bodyPr lIns="45719" rIns="45719"/>
          <a:lstStyle/>
          <a:p>
            <a:pPr/>
          </a:p>
        </p:txBody>
      </p:sp>
      <p:sp>
        <p:nvSpPr>
          <p:cNvPr id="108" name="Text 24"/>
          <p:cNvSpPr txBox="1"/>
          <p:nvPr/>
        </p:nvSpPr>
        <p:spPr>
          <a:xfrm>
            <a:off x="4206240" y="3880025"/>
            <a:ext cx="1645921" cy="2866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4 semaines</a:t>
            </a:r>
          </a:p>
        </p:txBody>
      </p:sp>
      <p:sp>
        <p:nvSpPr>
          <p:cNvPr id="109" name="Shape 25"/>
          <p:cNvSpPr/>
          <p:nvPr/>
        </p:nvSpPr>
        <p:spPr>
          <a:xfrm>
            <a:off x="3246120" y="4297679"/>
            <a:ext cx="2743201" cy="36577"/>
          </a:xfrm>
          <a:prstGeom prst="rect">
            <a:avLst/>
          </a:prstGeom>
          <a:solidFill>
            <a:srgbClr val="F59E0B"/>
          </a:solidFill>
          <a:ln w="12700">
            <a:solidFill>
              <a:srgbClr val="F59E0B"/>
            </a:solidFill>
          </a:ln>
        </p:spPr>
        <p:txBody>
          <a:bodyPr lIns="45719" rIns="45719"/>
          <a:lstStyle/>
          <a:p>
            <a:pPr/>
          </a:p>
        </p:txBody>
      </p:sp>
      <p:sp>
        <p:nvSpPr>
          <p:cNvPr id="110" name="Shape 26"/>
          <p:cNvSpPr/>
          <p:nvPr/>
        </p:nvSpPr>
        <p:spPr>
          <a:xfrm>
            <a:off x="6217920" y="1097280"/>
            <a:ext cx="2743201" cy="3657601"/>
          </a:xfrm>
          <a:prstGeom prst="rect">
            <a:avLst/>
          </a:prstGeom>
          <a:solidFill>
            <a:srgbClr val="FFFFFF"/>
          </a:solidFill>
          <a:ln w="12700">
            <a:solidFill>
              <a:srgbClr val="E2E8F0"/>
            </a:solidFill>
          </a:ln>
        </p:spPr>
        <p:txBody>
          <a:bodyPr lIns="45719" rIns="45719"/>
          <a:lstStyle/>
          <a:p>
            <a:pPr/>
          </a:p>
        </p:txBody>
      </p:sp>
      <p:sp>
        <p:nvSpPr>
          <p:cNvPr id="111" name="Shape 27"/>
          <p:cNvSpPr/>
          <p:nvPr/>
        </p:nvSpPr>
        <p:spPr>
          <a:xfrm>
            <a:off x="6217920" y="1097280"/>
            <a:ext cx="2743201" cy="457201"/>
          </a:xfrm>
          <a:prstGeom prst="rect">
            <a:avLst/>
          </a:prstGeom>
          <a:solidFill>
            <a:srgbClr val="1A3557"/>
          </a:solidFill>
          <a:ln w="12700">
            <a:solidFill>
              <a:srgbClr val="1A3557"/>
            </a:solidFill>
          </a:ln>
        </p:spPr>
        <p:txBody>
          <a:bodyPr lIns="45719" rIns="45719"/>
          <a:lstStyle/>
          <a:p>
            <a:pPr/>
          </a:p>
        </p:txBody>
      </p:sp>
      <p:sp>
        <p:nvSpPr>
          <p:cNvPr id="112" name="Text 28"/>
          <p:cNvSpPr txBox="1"/>
          <p:nvPr/>
        </p:nvSpPr>
        <p:spPr>
          <a:xfrm>
            <a:off x="6263640" y="1196779"/>
            <a:ext cx="2651761"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MISSION 3</a:t>
            </a:r>
          </a:p>
        </p:txBody>
      </p:sp>
      <p:sp>
        <p:nvSpPr>
          <p:cNvPr id="113" name="Shape 29"/>
          <p:cNvSpPr/>
          <p:nvPr/>
        </p:nvSpPr>
        <p:spPr>
          <a:xfrm>
            <a:off x="6355079" y="1645920"/>
            <a:ext cx="2468882" cy="411481"/>
          </a:xfrm>
          <a:prstGeom prst="rect">
            <a:avLst/>
          </a:prstGeom>
          <a:solidFill>
            <a:srgbClr val="EFF6FF"/>
          </a:solidFill>
          <a:ln w="12700">
            <a:solidFill>
              <a:srgbClr val="93C5FD"/>
            </a:solidFill>
            <a:prstDash val="dash"/>
          </a:ln>
        </p:spPr>
        <p:txBody>
          <a:bodyPr lIns="45719" rIns="45719"/>
          <a:lstStyle/>
          <a:p>
            <a:pPr/>
          </a:p>
        </p:txBody>
      </p:sp>
      <p:sp>
        <p:nvSpPr>
          <p:cNvPr id="114" name="Text 30"/>
          <p:cNvSpPr txBox="1"/>
          <p:nvPr/>
        </p:nvSpPr>
        <p:spPr>
          <a:xfrm>
            <a:off x="6355079" y="1708326"/>
            <a:ext cx="2468882" cy="286668"/>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Validation du client et publication du site</a:t>
            </a:r>
          </a:p>
        </p:txBody>
      </p:sp>
      <p:sp>
        <p:nvSpPr>
          <p:cNvPr id="115" name="Text 31"/>
          <p:cNvSpPr txBox="1"/>
          <p:nvPr/>
        </p:nvSpPr>
        <p:spPr>
          <a:xfrm>
            <a:off x="6400800" y="2171744"/>
            <a:ext cx="23774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64748B"/>
                </a:solidFill>
              </a:defRPr>
            </a:lvl1pPr>
          </a:lstStyle>
          <a:p>
            <a:pPr/>
            <a:r>
              <a:t>Description :</a:t>
            </a:r>
          </a:p>
        </p:txBody>
      </p:sp>
      <p:sp>
        <p:nvSpPr>
          <p:cNvPr id="116" name="Shape 32"/>
          <p:cNvSpPr/>
          <p:nvPr/>
        </p:nvSpPr>
        <p:spPr>
          <a:xfrm>
            <a:off x="6355079" y="2423160"/>
            <a:ext cx="2468882" cy="1371601"/>
          </a:xfrm>
          <a:prstGeom prst="rect">
            <a:avLst/>
          </a:prstGeom>
          <a:solidFill>
            <a:srgbClr val="EFF6FF"/>
          </a:solidFill>
          <a:ln w="12700">
            <a:solidFill>
              <a:srgbClr val="93C5FD"/>
            </a:solidFill>
            <a:prstDash val="dash"/>
          </a:ln>
        </p:spPr>
        <p:txBody>
          <a:bodyPr lIns="45719" rIns="45719"/>
          <a:lstStyle/>
          <a:p>
            <a:pPr/>
          </a:p>
        </p:txBody>
      </p:sp>
      <p:sp>
        <p:nvSpPr>
          <p:cNvPr id="117" name="Text 33"/>
          <p:cNvSpPr txBox="1"/>
          <p:nvPr/>
        </p:nvSpPr>
        <p:spPr>
          <a:xfrm>
            <a:off x="6355079" y="2423160"/>
            <a:ext cx="2468882" cy="832768"/>
          </a:xfrm>
          <a:prstGeom prst="rect">
            <a:avLst/>
          </a:prstGeom>
          <a:ln w="12700">
            <a:miter lim="400000"/>
          </a:ln>
          <a:extLst>
            <a:ext uri="{C572A759-6A51-4108-AA02-DFA0A04FC94B}">
              <ma14:wrappingTextBoxFlag xmlns:ma14="http://schemas.microsoft.com/office/mac/drawingml/2011/main" val="1"/>
            </a:ext>
          </a:extLst>
        </p:spPr>
        <p:txBody>
          <a:bodyPr lIns="101600" tIns="101600" rIns="101600" bIns="101600">
            <a:spAutoFit/>
          </a:bodyPr>
          <a:lstStyle/>
          <a:p>
            <a:pPr marL="342900" indent="-342900">
              <a:buSzPct val="100000"/>
              <a:buChar char="•"/>
              <a:defRPr i="1" sz="1100">
                <a:solidFill>
                  <a:srgbClr val="3B82F6"/>
                </a:solidFill>
              </a:defRPr>
            </a:pPr>
            <a:r>
              <a:t>RDV avec le client pour valider la prestation </a:t>
            </a:r>
          </a:p>
          <a:p>
            <a:pPr marL="342900" indent="-342900">
              <a:buSzPct val="100000"/>
              <a:buChar char="•"/>
              <a:defRPr i="1" sz="1100">
                <a:solidFill>
                  <a:srgbClr val="3B82F6"/>
                </a:solidFill>
              </a:defRPr>
            </a:pPr>
            <a:r>
              <a:t>Hostinger (publication)</a:t>
            </a:r>
          </a:p>
          <a:p>
            <a:pPr marL="342900" indent="-342900">
              <a:buSzPct val="100000"/>
              <a:buChar char="•"/>
              <a:defRPr i="1" sz="1100">
                <a:solidFill>
                  <a:srgbClr val="3B82F6"/>
                </a:solidFill>
              </a:defRPr>
            </a:pPr>
            <a:r>
              <a:t>Résultat obtenu...</a:t>
            </a:r>
          </a:p>
        </p:txBody>
      </p:sp>
      <p:sp>
        <p:nvSpPr>
          <p:cNvPr id="118" name="Text 34"/>
          <p:cNvSpPr txBox="1"/>
          <p:nvPr/>
        </p:nvSpPr>
        <p:spPr>
          <a:xfrm>
            <a:off x="6400800" y="3909104"/>
            <a:ext cx="73152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64748B"/>
                </a:solidFill>
              </a:defRPr>
            </a:lvl1pPr>
          </a:lstStyle>
          <a:p>
            <a:pPr/>
            <a:r>
              <a:t>Durée :</a:t>
            </a:r>
          </a:p>
        </p:txBody>
      </p:sp>
      <p:sp>
        <p:nvSpPr>
          <p:cNvPr id="119" name="Shape 35"/>
          <p:cNvSpPr/>
          <p:nvPr/>
        </p:nvSpPr>
        <p:spPr>
          <a:xfrm>
            <a:off x="7178040" y="3886200"/>
            <a:ext cx="1645921" cy="274321"/>
          </a:xfrm>
          <a:prstGeom prst="rect">
            <a:avLst/>
          </a:prstGeom>
          <a:solidFill>
            <a:srgbClr val="EFF6FF"/>
          </a:solidFill>
          <a:ln w="12700">
            <a:solidFill>
              <a:srgbClr val="93C5FD"/>
            </a:solidFill>
            <a:prstDash val="dash"/>
          </a:ln>
        </p:spPr>
        <p:txBody>
          <a:bodyPr lIns="45719" rIns="45719"/>
          <a:lstStyle/>
          <a:p>
            <a:pPr/>
          </a:p>
        </p:txBody>
      </p:sp>
      <p:sp>
        <p:nvSpPr>
          <p:cNvPr id="120" name="Text 36"/>
          <p:cNvSpPr txBox="1"/>
          <p:nvPr/>
        </p:nvSpPr>
        <p:spPr>
          <a:xfrm>
            <a:off x="7178040" y="3880025"/>
            <a:ext cx="1645921" cy="2866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defRPr i="1" sz="1100">
                <a:solidFill>
                  <a:srgbClr val="3B82F6"/>
                </a:solidFill>
              </a:defRPr>
            </a:lvl1pPr>
          </a:lstStyle>
          <a:p>
            <a:pPr/>
            <a:r>
              <a:t>03 jours</a:t>
            </a:r>
          </a:p>
        </p:txBody>
      </p:sp>
      <p:sp>
        <p:nvSpPr>
          <p:cNvPr id="121" name="Shape 37"/>
          <p:cNvSpPr/>
          <p:nvPr/>
        </p:nvSpPr>
        <p:spPr>
          <a:xfrm>
            <a:off x="6217920" y="4297679"/>
            <a:ext cx="2743201" cy="36577"/>
          </a:xfrm>
          <a:prstGeom prst="rect">
            <a:avLst/>
          </a:prstGeom>
          <a:solidFill>
            <a:srgbClr val="F59E0B"/>
          </a:solidFill>
          <a:ln w="12700">
            <a:solidFill>
              <a:srgbClr val="F59E0B"/>
            </a:solidFill>
          </a:ln>
        </p:spPr>
        <p:txBody>
          <a:bodyPr lIns="45719" rIns="45719"/>
          <a:lstStyle/>
          <a:p>
            <a:pPr/>
          </a:p>
        </p:txBody>
      </p:sp>
      <p:sp>
        <p:nvSpPr>
          <p:cNvPr id="122" name="Shape 38"/>
          <p:cNvSpPr/>
          <p:nvPr/>
        </p:nvSpPr>
        <p:spPr>
          <a:xfrm>
            <a:off x="0" y="4937759"/>
            <a:ext cx="9144000" cy="205741"/>
          </a:xfrm>
          <a:prstGeom prst="rect">
            <a:avLst/>
          </a:prstGeom>
          <a:solidFill>
            <a:srgbClr val="0891B2"/>
          </a:solidFill>
          <a:ln w="12700">
            <a:solidFill>
              <a:srgbClr val="0891B2"/>
            </a:solidFill>
          </a:ln>
        </p:spPr>
        <p:txBody>
          <a:bodyPr lIns="45719" rIns="45719"/>
          <a:lstStyle/>
          <a:p>
            <a:pPr/>
          </a:p>
        </p:txBody>
      </p:sp>
      <p:sp>
        <p:nvSpPr>
          <p:cNvPr id="123" name="Text 39"/>
          <p:cNvSpPr txBox="1"/>
          <p:nvPr/>
        </p:nvSpPr>
        <p:spPr>
          <a:xfrm>
            <a:off x="320040" y="4935387"/>
            <a:ext cx="8503920"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FFFFFF"/>
                </a:solidFill>
              </a:defRPr>
            </a:lvl1pPr>
          </a:lstStyle>
          <a:p>
            <a:pPr/>
            <a:r>
              <a:t>Rapport de stage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Shape 0"/>
          <p:cNvSpPr/>
          <p:nvPr/>
        </p:nvSpPr>
        <p:spPr>
          <a:xfrm>
            <a:off x="0" y="0"/>
            <a:ext cx="9144000" cy="1005839"/>
          </a:xfrm>
          <a:prstGeom prst="rect">
            <a:avLst/>
          </a:prstGeom>
          <a:solidFill>
            <a:srgbClr val="1A3557"/>
          </a:solidFill>
          <a:ln w="12700">
            <a:solidFill>
              <a:srgbClr val="1A3557"/>
            </a:solidFill>
          </a:ln>
        </p:spPr>
        <p:txBody>
          <a:bodyPr lIns="45719" rIns="45719"/>
          <a:lstStyle/>
          <a:p>
            <a:pPr/>
          </a:p>
        </p:txBody>
      </p:sp>
      <p:sp>
        <p:nvSpPr>
          <p:cNvPr id="126" name="Text 1"/>
          <p:cNvSpPr txBox="1"/>
          <p:nvPr/>
        </p:nvSpPr>
        <p:spPr>
          <a:xfrm>
            <a:off x="502919" y="310232"/>
            <a:ext cx="8138161" cy="3853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2200">
                <a:solidFill>
                  <a:srgbClr val="FFFFFF"/>
                </a:solidFill>
              </a:defRPr>
            </a:lvl1pPr>
          </a:lstStyle>
          <a:p>
            <a:pPr/>
            <a:r>
              <a:t>03  |  COMPÉTENCES ACQUISES</a:t>
            </a:r>
          </a:p>
        </p:txBody>
      </p:sp>
      <p:sp>
        <p:nvSpPr>
          <p:cNvPr id="127" name="Shape 2"/>
          <p:cNvSpPr/>
          <p:nvPr/>
        </p:nvSpPr>
        <p:spPr>
          <a:xfrm>
            <a:off x="365759" y="1143000"/>
            <a:ext cx="3931922" cy="411481"/>
          </a:xfrm>
          <a:prstGeom prst="rect">
            <a:avLst/>
          </a:prstGeom>
          <a:solidFill>
            <a:srgbClr val="0891B2"/>
          </a:solidFill>
          <a:ln w="12700">
            <a:solidFill>
              <a:srgbClr val="0891B2"/>
            </a:solidFill>
          </a:ln>
        </p:spPr>
        <p:txBody>
          <a:bodyPr lIns="45719" rIns="45719"/>
          <a:lstStyle/>
          <a:p>
            <a:pPr/>
          </a:p>
        </p:txBody>
      </p:sp>
      <p:sp>
        <p:nvSpPr>
          <p:cNvPr id="128" name="Text 3"/>
          <p:cNvSpPr txBox="1"/>
          <p:nvPr/>
        </p:nvSpPr>
        <p:spPr>
          <a:xfrm>
            <a:off x="411479" y="1219639"/>
            <a:ext cx="3840481"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Compétences techniques</a:t>
            </a:r>
          </a:p>
        </p:txBody>
      </p:sp>
      <p:sp>
        <p:nvSpPr>
          <p:cNvPr id="129" name="Shape 4"/>
          <p:cNvSpPr/>
          <p:nvPr/>
        </p:nvSpPr>
        <p:spPr>
          <a:xfrm>
            <a:off x="365759" y="1600200"/>
            <a:ext cx="3931922" cy="1828800"/>
          </a:xfrm>
          <a:prstGeom prst="rect">
            <a:avLst/>
          </a:prstGeom>
          <a:solidFill>
            <a:srgbClr val="EFF6FF"/>
          </a:solidFill>
          <a:ln w="12700">
            <a:solidFill>
              <a:srgbClr val="93C5FD"/>
            </a:solidFill>
            <a:prstDash val="dash"/>
          </a:ln>
        </p:spPr>
        <p:txBody>
          <a:bodyPr lIns="45719" rIns="45719"/>
          <a:lstStyle/>
          <a:p>
            <a:pPr/>
          </a:p>
        </p:txBody>
      </p:sp>
      <p:sp>
        <p:nvSpPr>
          <p:cNvPr id="130" name="Text 5"/>
          <p:cNvSpPr txBox="1"/>
          <p:nvPr/>
        </p:nvSpPr>
        <p:spPr>
          <a:xfrm>
            <a:off x="365759" y="1600200"/>
            <a:ext cx="3931922" cy="997868"/>
          </a:xfrm>
          <a:prstGeom prst="rect">
            <a:avLst/>
          </a:prstGeom>
          <a:ln w="12700">
            <a:miter lim="400000"/>
          </a:ln>
          <a:extLst>
            <a:ext uri="{C572A759-6A51-4108-AA02-DFA0A04FC94B}">
              <ma14:wrappingTextBoxFlag xmlns:ma14="http://schemas.microsoft.com/office/mac/drawingml/2011/main" val="1"/>
            </a:ext>
          </a:extLst>
        </p:spPr>
        <p:txBody>
          <a:bodyPr lIns="101600" tIns="101600" rIns="101600" bIns="101600">
            <a:spAutoFit/>
          </a:bodyPr>
          <a:lstStyle/>
          <a:p>
            <a:pPr>
              <a:defRPr i="1" sz="1100">
                <a:solidFill>
                  <a:srgbClr val="3B82F6"/>
                </a:solidFill>
              </a:defRPr>
            </a:pPr>
            <a:r>
              <a:t>	Maîtrise plus approfondie des langages :</a:t>
            </a:r>
          </a:p>
          <a:p>
            <a:pPr marL="342900" indent="-342900">
              <a:buSzPct val="100000"/>
              <a:buChar char="•"/>
              <a:defRPr i="1" sz="1100">
                <a:solidFill>
                  <a:srgbClr val="3B82F6"/>
                </a:solidFill>
              </a:defRPr>
            </a:pPr>
            <a:r>
              <a:t>CSS</a:t>
            </a:r>
          </a:p>
          <a:p>
            <a:pPr marL="342900" indent="-342900">
              <a:buSzPct val="100000"/>
              <a:buChar char="•"/>
              <a:defRPr i="1" sz="1100">
                <a:solidFill>
                  <a:srgbClr val="3B82F6"/>
                </a:solidFill>
              </a:defRPr>
            </a:pPr>
            <a:r>
              <a:t>PHP</a:t>
            </a:r>
          </a:p>
          <a:p>
            <a:pPr marL="342900" indent="-342900">
              <a:buSzPct val="100000"/>
              <a:buChar char="•"/>
              <a:defRPr i="1" sz="1100">
                <a:solidFill>
                  <a:srgbClr val="3B82F6"/>
                </a:solidFill>
              </a:defRPr>
            </a:pPr>
            <a:r>
              <a:t>SQL</a:t>
            </a:r>
          </a:p>
          <a:p>
            <a:pPr marL="342900" indent="-342900">
              <a:buSzPct val="100000"/>
              <a:buChar char="•"/>
              <a:defRPr i="1" sz="1100">
                <a:solidFill>
                  <a:srgbClr val="3B82F6"/>
                </a:solidFill>
              </a:defRPr>
            </a:pPr>
            <a:r>
              <a:t>JavaScript</a:t>
            </a:r>
          </a:p>
        </p:txBody>
      </p:sp>
      <p:sp>
        <p:nvSpPr>
          <p:cNvPr id="131" name="Shape 6"/>
          <p:cNvSpPr/>
          <p:nvPr/>
        </p:nvSpPr>
        <p:spPr>
          <a:xfrm>
            <a:off x="4754879" y="1143000"/>
            <a:ext cx="3931921" cy="411481"/>
          </a:xfrm>
          <a:prstGeom prst="rect">
            <a:avLst/>
          </a:prstGeom>
          <a:solidFill>
            <a:srgbClr val="7C3AED"/>
          </a:solidFill>
          <a:ln w="12700">
            <a:solidFill>
              <a:srgbClr val="7C3AED"/>
            </a:solidFill>
          </a:ln>
        </p:spPr>
        <p:txBody>
          <a:bodyPr lIns="45719" rIns="45719"/>
          <a:lstStyle/>
          <a:p>
            <a:pPr/>
          </a:p>
        </p:txBody>
      </p:sp>
      <p:sp>
        <p:nvSpPr>
          <p:cNvPr id="132" name="Text 7"/>
          <p:cNvSpPr txBox="1"/>
          <p:nvPr/>
        </p:nvSpPr>
        <p:spPr>
          <a:xfrm>
            <a:off x="4800600" y="1219639"/>
            <a:ext cx="3840480"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Compétences relationnelles</a:t>
            </a:r>
          </a:p>
        </p:txBody>
      </p:sp>
      <p:sp>
        <p:nvSpPr>
          <p:cNvPr id="133" name="Shape 8"/>
          <p:cNvSpPr/>
          <p:nvPr/>
        </p:nvSpPr>
        <p:spPr>
          <a:xfrm>
            <a:off x="4754879" y="1600200"/>
            <a:ext cx="3931921" cy="1828800"/>
          </a:xfrm>
          <a:prstGeom prst="rect">
            <a:avLst/>
          </a:prstGeom>
          <a:solidFill>
            <a:srgbClr val="EFF6FF"/>
          </a:solidFill>
          <a:ln w="12700">
            <a:solidFill>
              <a:srgbClr val="93C5FD"/>
            </a:solidFill>
            <a:prstDash val="dash"/>
          </a:ln>
        </p:spPr>
        <p:txBody>
          <a:bodyPr lIns="45719" rIns="45719"/>
          <a:lstStyle/>
          <a:p>
            <a:pPr/>
          </a:p>
        </p:txBody>
      </p:sp>
      <p:sp>
        <p:nvSpPr>
          <p:cNvPr id="134" name="Text 9"/>
          <p:cNvSpPr txBox="1"/>
          <p:nvPr/>
        </p:nvSpPr>
        <p:spPr>
          <a:xfrm>
            <a:off x="4754879" y="1600200"/>
            <a:ext cx="3931921" cy="832768"/>
          </a:xfrm>
          <a:prstGeom prst="rect">
            <a:avLst/>
          </a:prstGeom>
          <a:ln w="12700">
            <a:miter lim="400000"/>
          </a:ln>
          <a:extLst>
            <a:ext uri="{C572A759-6A51-4108-AA02-DFA0A04FC94B}">
              <ma14:wrappingTextBoxFlag xmlns:ma14="http://schemas.microsoft.com/office/mac/drawingml/2011/main" val="1"/>
            </a:ext>
          </a:extLst>
        </p:spPr>
        <p:txBody>
          <a:bodyPr lIns="101600" tIns="101600" rIns="101600" bIns="101600">
            <a:spAutoFit/>
          </a:bodyPr>
          <a:lstStyle/>
          <a:p>
            <a:pPr marL="342900" indent="-342900">
              <a:buSzPct val="100000"/>
              <a:buChar char="•"/>
              <a:defRPr i="1" sz="1100">
                <a:solidFill>
                  <a:srgbClr val="3B82F6"/>
                </a:solidFill>
              </a:defRPr>
            </a:pPr>
            <a:r>
              <a:t>Savoir vendre son produit </a:t>
            </a:r>
          </a:p>
          <a:p>
            <a:pPr marL="342900" indent="-342900">
              <a:buSzPct val="100000"/>
              <a:buChar char="•"/>
              <a:defRPr i="1" sz="1100">
                <a:solidFill>
                  <a:srgbClr val="3B82F6"/>
                </a:solidFill>
              </a:defRPr>
            </a:pPr>
            <a:r>
              <a:t>Capacitée à échanger avec son client</a:t>
            </a:r>
          </a:p>
          <a:p>
            <a:pPr marL="342900" indent="-342900">
              <a:buSzPct val="100000"/>
              <a:buChar char="•"/>
              <a:defRPr i="1" sz="1100">
                <a:solidFill>
                  <a:srgbClr val="3B82F6"/>
                </a:solidFill>
              </a:defRPr>
            </a:pPr>
            <a:r>
              <a:t>Comprendre les attentes du client </a:t>
            </a:r>
          </a:p>
        </p:txBody>
      </p:sp>
      <p:sp>
        <p:nvSpPr>
          <p:cNvPr id="135" name="Shape 10"/>
          <p:cNvSpPr/>
          <p:nvPr/>
        </p:nvSpPr>
        <p:spPr>
          <a:xfrm>
            <a:off x="365759" y="3611879"/>
            <a:ext cx="8412482" cy="45721"/>
          </a:xfrm>
          <a:prstGeom prst="rect">
            <a:avLst/>
          </a:prstGeom>
          <a:solidFill>
            <a:srgbClr val="0891B2"/>
          </a:solidFill>
          <a:ln w="12700">
            <a:solidFill>
              <a:srgbClr val="0891B2"/>
            </a:solidFill>
          </a:ln>
        </p:spPr>
        <p:txBody>
          <a:bodyPr lIns="45719" rIns="45719"/>
          <a:lstStyle/>
          <a:p>
            <a:pPr/>
          </a:p>
        </p:txBody>
      </p:sp>
      <p:sp>
        <p:nvSpPr>
          <p:cNvPr id="136" name="Text 11"/>
          <p:cNvSpPr txBox="1"/>
          <p:nvPr/>
        </p:nvSpPr>
        <p:spPr>
          <a:xfrm>
            <a:off x="365759" y="3784907"/>
            <a:ext cx="841248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200">
                <a:solidFill>
                  <a:srgbClr val="1A3557"/>
                </a:solidFill>
              </a:defRPr>
            </a:lvl1pPr>
          </a:lstStyle>
          <a:p>
            <a:pPr/>
            <a:r>
              <a:t>OUTILS &amp; TECHNOLOGIES UTILISÉS</a:t>
            </a:r>
          </a:p>
        </p:txBody>
      </p:sp>
      <p:sp>
        <p:nvSpPr>
          <p:cNvPr id="137" name="Shape 12"/>
          <p:cNvSpPr/>
          <p:nvPr/>
        </p:nvSpPr>
        <p:spPr>
          <a:xfrm>
            <a:off x="365759" y="4023359"/>
            <a:ext cx="8412482" cy="822961"/>
          </a:xfrm>
          <a:prstGeom prst="rect">
            <a:avLst/>
          </a:prstGeom>
          <a:solidFill>
            <a:srgbClr val="EFF6FF"/>
          </a:solidFill>
          <a:ln w="12700">
            <a:solidFill>
              <a:srgbClr val="93C5FD"/>
            </a:solidFill>
            <a:prstDash val="dash"/>
          </a:ln>
        </p:spPr>
        <p:txBody>
          <a:bodyPr lIns="45719" rIns="45719"/>
          <a:lstStyle/>
          <a:p>
            <a:pPr/>
          </a:p>
        </p:txBody>
      </p:sp>
      <p:sp>
        <p:nvSpPr>
          <p:cNvPr id="138" name="Text 13"/>
          <p:cNvSpPr txBox="1"/>
          <p:nvPr/>
        </p:nvSpPr>
        <p:spPr>
          <a:xfrm>
            <a:off x="365759" y="4023359"/>
            <a:ext cx="8412482" cy="667669"/>
          </a:xfrm>
          <a:prstGeom prst="rect">
            <a:avLst/>
          </a:prstGeom>
          <a:ln w="12700">
            <a:miter lim="400000"/>
          </a:ln>
          <a:extLst>
            <a:ext uri="{C572A759-6A51-4108-AA02-DFA0A04FC94B}">
              <ma14:wrappingTextBoxFlag xmlns:ma14="http://schemas.microsoft.com/office/mac/drawingml/2011/main" val="1"/>
            </a:ext>
          </a:extLst>
        </p:spPr>
        <p:txBody>
          <a:bodyPr lIns="101600" tIns="101600" rIns="101600" bIns="101600">
            <a:spAutoFit/>
          </a:bodyPr>
          <a:lstStyle/>
          <a:p>
            <a:pPr marL="342900" indent="-342900">
              <a:buSzPct val="100000"/>
              <a:buChar char="•"/>
              <a:defRPr i="1" sz="1100">
                <a:solidFill>
                  <a:srgbClr val="3B82F6"/>
                </a:solidFill>
              </a:defRPr>
            </a:pPr>
            <a:r>
              <a:t>VSCode, CANVA, GAMMA</a:t>
            </a:r>
          </a:p>
          <a:p>
            <a:pPr marL="342900" indent="-342900">
              <a:buSzPct val="100000"/>
              <a:buChar char="•"/>
              <a:defRPr i="1" sz="1100">
                <a:solidFill>
                  <a:srgbClr val="3B82F6"/>
                </a:solidFill>
              </a:defRPr>
            </a:pPr>
            <a:r>
              <a:t>WAMP-SERVER</a:t>
            </a:r>
          </a:p>
          <a:p>
            <a:pPr marL="342900" indent="-342900">
              <a:buSzPct val="100000"/>
              <a:buChar char="•"/>
              <a:defRPr i="1" sz="1100">
                <a:solidFill>
                  <a:srgbClr val="3B82F6"/>
                </a:solidFill>
              </a:defRPr>
            </a:pPr>
            <a:r>
              <a:t>Hostinger</a:t>
            </a:r>
          </a:p>
        </p:txBody>
      </p:sp>
      <p:sp>
        <p:nvSpPr>
          <p:cNvPr id="139" name="Shape 14"/>
          <p:cNvSpPr/>
          <p:nvPr/>
        </p:nvSpPr>
        <p:spPr>
          <a:xfrm>
            <a:off x="0" y="4937759"/>
            <a:ext cx="9144000" cy="205741"/>
          </a:xfrm>
          <a:prstGeom prst="rect">
            <a:avLst/>
          </a:prstGeom>
          <a:solidFill>
            <a:srgbClr val="1A3557"/>
          </a:solidFill>
          <a:ln w="12700">
            <a:solidFill>
              <a:srgbClr val="1A3557"/>
            </a:solidFill>
          </a:ln>
        </p:spPr>
        <p:txBody>
          <a:bodyPr lIns="45719" rIns="45719"/>
          <a:lstStyle/>
          <a:p>
            <a:pPr/>
          </a:p>
        </p:txBody>
      </p:sp>
      <p:sp>
        <p:nvSpPr>
          <p:cNvPr id="140" name="Text 15"/>
          <p:cNvSpPr txBox="1"/>
          <p:nvPr/>
        </p:nvSpPr>
        <p:spPr>
          <a:xfrm>
            <a:off x="320040" y="4935387"/>
            <a:ext cx="8503920"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93C5FD"/>
                </a:solidFill>
              </a:defRPr>
            </a:lvl1pPr>
          </a:lstStyle>
          <a:p>
            <a:pPr/>
            <a:r>
              <a:t>Rapport de stage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5F9"/>
        </a:solidFill>
      </p:bgPr>
    </p:bg>
    <p:spTree>
      <p:nvGrpSpPr>
        <p:cNvPr id="1" name=""/>
        <p:cNvGrpSpPr/>
        <p:nvPr/>
      </p:nvGrpSpPr>
      <p:grpSpPr>
        <a:xfrm>
          <a:off x="0" y="0"/>
          <a:ext cx="0" cy="0"/>
          <a:chOff x="0" y="0"/>
          <a:chExt cx="0" cy="0"/>
        </a:xfrm>
      </p:grpSpPr>
      <p:sp>
        <p:nvSpPr>
          <p:cNvPr id="142" name="Shape 0"/>
          <p:cNvSpPr/>
          <p:nvPr/>
        </p:nvSpPr>
        <p:spPr>
          <a:xfrm>
            <a:off x="0" y="0"/>
            <a:ext cx="9144000" cy="1005839"/>
          </a:xfrm>
          <a:prstGeom prst="rect">
            <a:avLst/>
          </a:prstGeom>
          <a:solidFill>
            <a:srgbClr val="0891B2"/>
          </a:solidFill>
          <a:ln w="12700">
            <a:solidFill>
              <a:srgbClr val="0891B2"/>
            </a:solidFill>
          </a:ln>
        </p:spPr>
        <p:txBody>
          <a:bodyPr lIns="45719" rIns="45719"/>
          <a:lstStyle/>
          <a:p>
            <a:pPr/>
          </a:p>
        </p:txBody>
      </p:sp>
      <p:sp>
        <p:nvSpPr>
          <p:cNvPr id="143" name="Text 1"/>
          <p:cNvSpPr txBox="1"/>
          <p:nvPr/>
        </p:nvSpPr>
        <p:spPr>
          <a:xfrm>
            <a:off x="502919" y="310232"/>
            <a:ext cx="8138161" cy="3853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2200">
                <a:solidFill>
                  <a:srgbClr val="FFFFFF"/>
                </a:solidFill>
              </a:defRPr>
            </a:lvl1pPr>
          </a:lstStyle>
          <a:p>
            <a:pPr/>
            <a:r>
              <a:t>04  |  BILAN PERSONNEL</a:t>
            </a:r>
          </a:p>
        </p:txBody>
      </p:sp>
      <p:sp>
        <p:nvSpPr>
          <p:cNvPr id="144" name="Shape 2"/>
          <p:cNvSpPr/>
          <p:nvPr/>
        </p:nvSpPr>
        <p:spPr>
          <a:xfrm>
            <a:off x="365759" y="1051560"/>
            <a:ext cx="3931922" cy="365761"/>
          </a:xfrm>
          <a:prstGeom prst="rect">
            <a:avLst/>
          </a:prstGeom>
          <a:solidFill>
            <a:srgbClr val="059669"/>
          </a:solidFill>
          <a:ln w="12700">
            <a:solidFill>
              <a:srgbClr val="059669"/>
            </a:solidFill>
          </a:ln>
        </p:spPr>
        <p:txBody>
          <a:bodyPr lIns="45719" rIns="45719"/>
          <a:lstStyle/>
          <a:p>
            <a:pPr/>
          </a:p>
        </p:txBody>
      </p:sp>
      <p:sp>
        <p:nvSpPr>
          <p:cNvPr id="145" name="Text 3"/>
          <p:cNvSpPr txBox="1"/>
          <p:nvPr/>
        </p:nvSpPr>
        <p:spPr>
          <a:xfrm>
            <a:off x="411479" y="1105339"/>
            <a:ext cx="384048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Points positifs</a:t>
            </a:r>
          </a:p>
        </p:txBody>
      </p:sp>
      <p:sp>
        <p:nvSpPr>
          <p:cNvPr id="146" name="Shape 4"/>
          <p:cNvSpPr/>
          <p:nvPr/>
        </p:nvSpPr>
        <p:spPr>
          <a:xfrm>
            <a:off x="365759" y="1463039"/>
            <a:ext cx="3931922" cy="1371601"/>
          </a:xfrm>
          <a:prstGeom prst="rect">
            <a:avLst/>
          </a:prstGeom>
          <a:solidFill>
            <a:srgbClr val="EFF6FF"/>
          </a:solidFill>
          <a:ln w="12700">
            <a:solidFill>
              <a:srgbClr val="93C5FD"/>
            </a:solidFill>
            <a:prstDash val="dash"/>
          </a:ln>
        </p:spPr>
        <p:txBody>
          <a:bodyPr lIns="45719" rIns="45719"/>
          <a:lstStyle/>
          <a:p>
            <a:pPr/>
          </a:p>
        </p:txBody>
      </p:sp>
      <p:sp>
        <p:nvSpPr>
          <p:cNvPr id="147" name="Text 5"/>
          <p:cNvSpPr txBox="1"/>
          <p:nvPr/>
        </p:nvSpPr>
        <p:spPr>
          <a:xfrm>
            <a:off x="365759" y="1463039"/>
            <a:ext cx="3931922" cy="502569"/>
          </a:xfrm>
          <a:prstGeom prst="rect">
            <a:avLst/>
          </a:prstGeom>
          <a:ln w="12700">
            <a:miter lim="400000"/>
          </a:ln>
          <a:extLst>
            <a:ext uri="{C572A759-6A51-4108-AA02-DFA0A04FC94B}">
              <ma14:wrappingTextBoxFlag xmlns:ma14="http://schemas.microsoft.com/office/mac/drawingml/2011/main" val="1"/>
            </a:ext>
          </a:extLst>
        </p:spPr>
        <p:txBody>
          <a:bodyPr lIns="101600" tIns="101600" rIns="101600" bIns="101600">
            <a:spAutoFit/>
          </a:bodyPr>
          <a:lstStyle/>
          <a:p>
            <a:pPr marL="342900" indent="-342900">
              <a:buSzPct val="100000"/>
              <a:buChar char="•"/>
              <a:defRPr i="1" sz="1100">
                <a:solidFill>
                  <a:srgbClr val="3B82F6"/>
                </a:solidFill>
              </a:defRPr>
            </a:pPr>
            <a:r>
              <a:t>Apprentissage </a:t>
            </a:r>
            <a:r>
              <a:t>intéressant</a:t>
            </a:r>
            <a:r>
              <a:t> grâce aux informaticiens </a:t>
            </a:r>
          </a:p>
          <a:p>
            <a:pPr marL="342900" indent="-342900">
              <a:buSzPct val="100000"/>
              <a:buChar char="•"/>
              <a:defRPr i="1" sz="1100">
                <a:solidFill>
                  <a:srgbClr val="3B82F6"/>
                </a:solidFill>
              </a:defRPr>
            </a:pPr>
            <a:r>
              <a:t>Flexibilité des horaires </a:t>
            </a:r>
          </a:p>
        </p:txBody>
      </p:sp>
      <p:sp>
        <p:nvSpPr>
          <p:cNvPr id="148" name="Shape 6"/>
          <p:cNvSpPr/>
          <p:nvPr/>
        </p:nvSpPr>
        <p:spPr>
          <a:xfrm>
            <a:off x="4754879" y="1051560"/>
            <a:ext cx="3931921" cy="365761"/>
          </a:xfrm>
          <a:prstGeom prst="rect">
            <a:avLst/>
          </a:prstGeom>
          <a:solidFill>
            <a:srgbClr val="DC2626"/>
          </a:solidFill>
          <a:ln w="12700">
            <a:solidFill>
              <a:srgbClr val="DC2626"/>
            </a:solidFill>
          </a:ln>
        </p:spPr>
        <p:txBody>
          <a:bodyPr lIns="45719" rIns="45719"/>
          <a:lstStyle/>
          <a:p>
            <a:pPr/>
          </a:p>
        </p:txBody>
      </p:sp>
      <p:sp>
        <p:nvSpPr>
          <p:cNvPr id="149" name="Text 7"/>
          <p:cNvSpPr txBox="1"/>
          <p:nvPr/>
        </p:nvSpPr>
        <p:spPr>
          <a:xfrm>
            <a:off x="4800600" y="1105339"/>
            <a:ext cx="384048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Difficultés rencontrées</a:t>
            </a:r>
          </a:p>
        </p:txBody>
      </p:sp>
      <p:sp>
        <p:nvSpPr>
          <p:cNvPr id="150" name="Shape 8"/>
          <p:cNvSpPr/>
          <p:nvPr/>
        </p:nvSpPr>
        <p:spPr>
          <a:xfrm>
            <a:off x="4754879" y="1463039"/>
            <a:ext cx="3931921" cy="1371601"/>
          </a:xfrm>
          <a:prstGeom prst="rect">
            <a:avLst/>
          </a:prstGeom>
          <a:solidFill>
            <a:srgbClr val="EFF6FF"/>
          </a:solidFill>
          <a:ln w="12700">
            <a:solidFill>
              <a:srgbClr val="93C5FD"/>
            </a:solidFill>
            <a:prstDash val="dash"/>
          </a:ln>
        </p:spPr>
        <p:txBody>
          <a:bodyPr lIns="45719" rIns="45719"/>
          <a:lstStyle/>
          <a:p>
            <a:pPr/>
          </a:p>
        </p:txBody>
      </p:sp>
      <p:sp>
        <p:nvSpPr>
          <p:cNvPr id="151" name="Text 9"/>
          <p:cNvSpPr txBox="1"/>
          <p:nvPr/>
        </p:nvSpPr>
        <p:spPr>
          <a:xfrm>
            <a:off x="4754879" y="1463039"/>
            <a:ext cx="3931921" cy="502569"/>
          </a:xfrm>
          <a:prstGeom prst="rect">
            <a:avLst/>
          </a:prstGeom>
          <a:ln w="12700">
            <a:miter lim="400000"/>
          </a:ln>
          <a:extLst>
            <a:ext uri="{C572A759-6A51-4108-AA02-DFA0A04FC94B}">
              <ma14:wrappingTextBoxFlag xmlns:ma14="http://schemas.microsoft.com/office/mac/drawingml/2011/main" val="1"/>
            </a:ext>
          </a:extLst>
        </p:spPr>
        <p:txBody>
          <a:bodyPr lIns="101600" tIns="101600" rIns="101600" bIns="101600">
            <a:spAutoFit/>
          </a:bodyPr>
          <a:lstStyle/>
          <a:p>
            <a:pPr marL="342900" indent="-342900">
              <a:buSzPct val="100000"/>
              <a:buChar char="•"/>
              <a:defRPr i="1" sz="1100">
                <a:solidFill>
                  <a:srgbClr val="3B82F6"/>
                </a:solidFill>
              </a:defRPr>
            </a:pPr>
            <a:r>
              <a:t>CSS compliqué à adapter par rapport à nos pensées</a:t>
            </a:r>
          </a:p>
          <a:p>
            <a:pPr marL="342900" indent="-342900">
              <a:buSzPct val="100000"/>
              <a:buChar char="•"/>
              <a:defRPr i="1" sz="1100">
                <a:solidFill>
                  <a:srgbClr val="3B82F6"/>
                </a:solidFill>
              </a:defRPr>
            </a:pPr>
            <a:r>
              <a:t>Création de la base de données </a:t>
            </a:r>
          </a:p>
        </p:txBody>
      </p:sp>
      <p:sp>
        <p:nvSpPr>
          <p:cNvPr id="152" name="Shape 10"/>
          <p:cNvSpPr/>
          <p:nvPr/>
        </p:nvSpPr>
        <p:spPr>
          <a:xfrm>
            <a:off x="365759" y="2971800"/>
            <a:ext cx="8412482" cy="45721"/>
          </a:xfrm>
          <a:prstGeom prst="rect">
            <a:avLst/>
          </a:prstGeom>
          <a:solidFill>
            <a:srgbClr val="0891B2"/>
          </a:solidFill>
          <a:ln w="12700">
            <a:solidFill>
              <a:srgbClr val="0891B2"/>
            </a:solidFill>
          </a:ln>
        </p:spPr>
        <p:txBody>
          <a:bodyPr lIns="45719" rIns="45719"/>
          <a:lstStyle/>
          <a:p>
            <a:pPr/>
          </a:p>
        </p:txBody>
      </p:sp>
      <p:sp>
        <p:nvSpPr>
          <p:cNvPr id="153" name="Text 11"/>
          <p:cNvSpPr txBox="1"/>
          <p:nvPr/>
        </p:nvSpPr>
        <p:spPr>
          <a:xfrm>
            <a:off x="365759" y="3144827"/>
            <a:ext cx="841248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200">
                <a:solidFill>
                  <a:srgbClr val="1A3557"/>
                </a:solidFill>
              </a:defRPr>
            </a:lvl1pPr>
          </a:lstStyle>
          <a:p>
            <a:pPr/>
            <a:r>
              <a:t>APPORTS DU STAGE / CE QUE J'EN RETIENS</a:t>
            </a:r>
          </a:p>
        </p:txBody>
      </p:sp>
      <p:sp>
        <p:nvSpPr>
          <p:cNvPr id="154" name="Shape 12"/>
          <p:cNvSpPr/>
          <p:nvPr/>
        </p:nvSpPr>
        <p:spPr>
          <a:xfrm>
            <a:off x="365759" y="3383279"/>
            <a:ext cx="8412482" cy="1371601"/>
          </a:xfrm>
          <a:prstGeom prst="rect">
            <a:avLst/>
          </a:prstGeom>
          <a:solidFill>
            <a:srgbClr val="EFF6FF"/>
          </a:solidFill>
          <a:ln w="12700">
            <a:solidFill>
              <a:srgbClr val="93C5FD"/>
            </a:solidFill>
            <a:prstDash val="dash"/>
          </a:ln>
        </p:spPr>
        <p:txBody>
          <a:bodyPr lIns="45719" rIns="45719"/>
          <a:lstStyle/>
          <a:p>
            <a:pPr/>
          </a:p>
        </p:txBody>
      </p:sp>
      <p:sp>
        <p:nvSpPr>
          <p:cNvPr id="155" name="Text 13"/>
          <p:cNvSpPr txBox="1"/>
          <p:nvPr/>
        </p:nvSpPr>
        <p:spPr>
          <a:xfrm>
            <a:off x="365759" y="3383279"/>
            <a:ext cx="8412482" cy="337469"/>
          </a:xfrm>
          <a:prstGeom prst="rect">
            <a:avLst/>
          </a:prstGeom>
          <a:ln w="12700">
            <a:miter lim="400000"/>
          </a:ln>
          <a:extLst>
            <a:ext uri="{C572A759-6A51-4108-AA02-DFA0A04FC94B}">
              <ma14:wrappingTextBoxFlag xmlns:ma14="http://schemas.microsoft.com/office/mac/drawingml/2011/main" val="1"/>
            </a:ext>
          </a:extLst>
        </p:spPr>
        <p:txBody>
          <a:bodyPr lIns="101600" tIns="101600" rIns="101600" bIns="101600">
            <a:spAutoFit/>
          </a:bodyPr>
          <a:lstStyle>
            <a:lvl1pPr marL="342900" indent="-342900">
              <a:buSzPct val="100000"/>
              <a:buChar char="•"/>
              <a:defRPr i="1" sz="1100">
                <a:solidFill>
                  <a:srgbClr val="3B82F6"/>
                </a:solidFill>
              </a:defRPr>
            </a:lvl1pPr>
          </a:lstStyle>
          <a:p>
            <a:pPr/>
            <a:r>
              <a:t>Déroulement et préparation d’une prestation en tant que développeur</a:t>
            </a:r>
          </a:p>
        </p:txBody>
      </p:sp>
      <p:sp>
        <p:nvSpPr>
          <p:cNvPr id="156" name="Shape 14"/>
          <p:cNvSpPr/>
          <p:nvPr/>
        </p:nvSpPr>
        <p:spPr>
          <a:xfrm>
            <a:off x="0" y="4937759"/>
            <a:ext cx="9144000" cy="205741"/>
          </a:xfrm>
          <a:prstGeom prst="rect">
            <a:avLst/>
          </a:prstGeom>
          <a:solidFill>
            <a:srgbClr val="0891B2"/>
          </a:solidFill>
          <a:ln w="12700">
            <a:solidFill>
              <a:srgbClr val="0891B2"/>
            </a:solidFill>
          </a:ln>
        </p:spPr>
        <p:txBody>
          <a:bodyPr lIns="45719" rIns="45719"/>
          <a:lstStyle/>
          <a:p>
            <a:pPr/>
          </a:p>
        </p:txBody>
      </p:sp>
      <p:sp>
        <p:nvSpPr>
          <p:cNvPr id="157" name="Text 15"/>
          <p:cNvSpPr txBox="1"/>
          <p:nvPr/>
        </p:nvSpPr>
        <p:spPr>
          <a:xfrm>
            <a:off x="320040" y="4935387"/>
            <a:ext cx="8503920"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FFFFFF"/>
                </a:solidFill>
              </a:defRPr>
            </a:lvl1pPr>
          </a:lstStyle>
          <a:p>
            <a:pPr/>
            <a:r>
              <a:t>Rapport de stage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3557"/>
        </a:solidFill>
      </p:bgPr>
    </p:bg>
    <p:spTree>
      <p:nvGrpSpPr>
        <p:cNvPr id="1" name=""/>
        <p:cNvGrpSpPr/>
        <p:nvPr/>
      </p:nvGrpSpPr>
      <p:grpSpPr>
        <a:xfrm>
          <a:off x="0" y="0"/>
          <a:ext cx="0" cy="0"/>
          <a:chOff x="0" y="0"/>
          <a:chExt cx="0" cy="0"/>
        </a:xfrm>
      </p:grpSpPr>
      <p:sp>
        <p:nvSpPr>
          <p:cNvPr id="159" name="Shape 0"/>
          <p:cNvSpPr/>
          <p:nvPr/>
        </p:nvSpPr>
        <p:spPr>
          <a:xfrm>
            <a:off x="0" y="-1"/>
            <a:ext cx="9144000" cy="91442"/>
          </a:xfrm>
          <a:prstGeom prst="rect">
            <a:avLst/>
          </a:prstGeom>
          <a:solidFill>
            <a:srgbClr val="F59E0B"/>
          </a:solidFill>
          <a:ln w="12700">
            <a:solidFill>
              <a:srgbClr val="F59E0B"/>
            </a:solidFill>
          </a:ln>
        </p:spPr>
        <p:txBody>
          <a:bodyPr lIns="45719" rIns="45719"/>
          <a:lstStyle/>
          <a:p>
            <a:pPr/>
          </a:p>
        </p:txBody>
      </p:sp>
      <p:sp>
        <p:nvSpPr>
          <p:cNvPr id="160" name="Text 1"/>
          <p:cNvSpPr txBox="1"/>
          <p:nvPr/>
        </p:nvSpPr>
        <p:spPr>
          <a:xfrm>
            <a:off x="502919" y="395103"/>
            <a:ext cx="8138161"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300" sz="3000">
                <a:solidFill>
                  <a:srgbClr val="FFFFFF"/>
                </a:solidFill>
              </a:defRPr>
            </a:lvl1pPr>
          </a:lstStyle>
          <a:p>
            <a:pPr/>
            <a:r>
              <a:t>05  |  CONCLUSION</a:t>
            </a:r>
          </a:p>
        </p:txBody>
      </p:sp>
      <p:sp>
        <p:nvSpPr>
          <p:cNvPr id="161" name="Shape 2"/>
          <p:cNvSpPr/>
          <p:nvPr/>
        </p:nvSpPr>
        <p:spPr>
          <a:xfrm>
            <a:off x="548640" y="1097280"/>
            <a:ext cx="8046719" cy="2194561"/>
          </a:xfrm>
          <a:prstGeom prst="rect">
            <a:avLst/>
          </a:prstGeom>
          <a:solidFill>
            <a:srgbClr val="FFFFFF"/>
          </a:solidFill>
          <a:ln w="12700">
            <a:solidFill>
              <a:srgbClr val="0891B2"/>
            </a:solidFill>
          </a:ln>
        </p:spPr>
        <p:txBody>
          <a:bodyPr lIns="45719" rIns="45719"/>
          <a:lstStyle/>
          <a:p>
            <a:pPr/>
          </a:p>
        </p:txBody>
      </p:sp>
      <p:sp>
        <p:nvSpPr>
          <p:cNvPr id="162" name="Shape 3"/>
          <p:cNvSpPr/>
          <p:nvPr/>
        </p:nvSpPr>
        <p:spPr>
          <a:xfrm>
            <a:off x="685800" y="1200150"/>
            <a:ext cx="7772400" cy="2011679"/>
          </a:xfrm>
          <a:prstGeom prst="rect">
            <a:avLst/>
          </a:prstGeom>
          <a:solidFill>
            <a:srgbClr val="EFF6FF"/>
          </a:solidFill>
          <a:ln w="12700">
            <a:solidFill>
              <a:srgbClr val="93C5FD"/>
            </a:solidFill>
            <a:prstDash val="dash"/>
          </a:ln>
        </p:spPr>
        <p:txBody>
          <a:bodyPr lIns="45719" rIns="45719"/>
          <a:lstStyle/>
          <a:p>
            <a:pPr/>
          </a:p>
        </p:txBody>
      </p:sp>
      <p:sp>
        <p:nvSpPr>
          <p:cNvPr id="163" name="Text 4"/>
          <p:cNvSpPr txBox="1"/>
          <p:nvPr/>
        </p:nvSpPr>
        <p:spPr>
          <a:xfrm>
            <a:off x="685800" y="1188719"/>
            <a:ext cx="7772400" cy="1162969"/>
          </a:xfrm>
          <a:prstGeom prst="rect">
            <a:avLst/>
          </a:prstGeom>
          <a:ln w="12700">
            <a:miter lim="400000"/>
          </a:ln>
          <a:extLst>
            <a:ext uri="{C572A759-6A51-4108-AA02-DFA0A04FC94B}">
              <ma14:wrappingTextBoxFlag xmlns:ma14="http://schemas.microsoft.com/office/mac/drawingml/2011/main" val="1"/>
            </a:ext>
          </a:extLst>
        </p:spPr>
        <p:txBody>
          <a:bodyPr lIns="101600" tIns="101600" rIns="101600" bIns="101600">
            <a:spAutoFit/>
          </a:bodyPr>
          <a:lstStyle/>
          <a:p>
            <a:pPr>
              <a:defRPr i="1" sz="1100">
                <a:solidFill>
                  <a:srgbClr val="3B82F6"/>
                </a:solidFill>
              </a:defRPr>
            </a:pPr>
            <a:r>
              <a:t>J’ai trouvé ce stage très intéressant car il m’a permis de voir comment ce passent les échanges entre prestataires et clients afin qu’ils ce mettent d’accord sur la façon dont la demande du client doit être réalisée puis sur l’avancée du projet et pour finir sur si le résultat plaît ou non au client. Grâce à ce stage j’ai découvert :</a:t>
            </a:r>
          </a:p>
          <a:p>
            <a:pPr>
              <a:defRPr i="1" sz="1100">
                <a:solidFill>
                  <a:srgbClr val="3B82F6"/>
                </a:solidFill>
              </a:defRPr>
            </a:pPr>
          </a:p>
          <a:p>
            <a:pPr marL="110289" indent="-110289">
              <a:buSzPct val="100000"/>
              <a:buChar char="•"/>
              <a:defRPr i="1" sz="1100">
                <a:solidFill>
                  <a:srgbClr val="3B82F6"/>
                </a:solidFill>
              </a:defRPr>
            </a:pPr>
            <a:r>
              <a:t>Comment le prestataire et le client ce mettent d’accord sur le projet à réaliser </a:t>
            </a:r>
          </a:p>
          <a:p>
            <a:pPr marL="110289" indent="-110289">
              <a:buSzPct val="100000"/>
              <a:buChar char="•"/>
              <a:defRPr i="1" sz="1100">
                <a:solidFill>
                  <a:srgbClr val="3B82F6"/>
                </a:solidFill>
              </a:defRPr>
            </a:pPr>
            <a:r>
              <a:t>Comment en tant que prestataire s’organiser pour réaliser le projet </a:t>
            </a:r>
          </a:p>
        </p:txBody>
      </p:sp>
      <p:sp>
        <p:nvSpPr>
          <p:cNvPr id="164" name="Shape 5"/>
          <p:cNvSpPr/>
          <p:nvPr/>
        </p:nvSpPr>
        <p:spPr>
          <a:xfrm>
            <a:off x="548640" y="3429000"/>
            <a:ext cx="8046719" cy="1280161"/>
          </a:xfrm>
          <a:prstGeom prst="rect">
            <a:avLst/>
          </a:prstGeom>
          <a:solidFill>
            <a:srgbClr val="0D2240"/>
          </a:solidFill>
          <a:ln w="12700">
            <a:solidFill>
              <a:srgbClr val="0891B2"/>
            </a:solidFill>
          </a:ln>
        </p:spPr>
        <p:txBody>
          <a:bodyPr lIns="45719" rIns="45719"/>
          <a:lstStyle/>
          <a:p>
            <a:pPr/>
          </a:p>
        </p:txBody>
      </p:sp>
      <p:sp>
        <p:nvSpPr>
          <p:cNvPr id="165" name="Text 6"/>
          <p:cNvSpPr txBox="1"/>
          <p:nvPr/>
        </p:nvSpPr>
        <p:spPr>
          <a:xfrm>
            <a:off x="731519" y="3528875"/>
            <a:ext cx="76809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200">
                <a:solidFill>
                  <a:srgbClr val="0891B2"/>
                </a:solidFill>
              </a:defRPr>
            </a:lvl1pPr>
          </a:lstStyle>
          <a:p>
            <a:pPr/>
            <a:r>
              <a:t>REMERCIEMENTS</a:t>
            </a:r>
          </a:p>
        </p:txBody>
      </p:sp>
      <p:sp>
        <p:nvSpPr>
          <p:cNvPr id="166" name="Shape 7"/>
          <p:cNvSpPr/>
          <p:nvPr/>
        </p:nvSpPr>
        <p:spPr>
          <a:xfrm>
            <a:off x="685800" y="3840479"/>
            <a:ext cx="7772400" cy="685801"/>
          </a:xfrm>
          <a:prstGeom prst="rect">
            <a:avLst/>
          </a:prstGeom>
          <a:solidFill>
            <a:srgbClr val="EFF6FF"/>
          </a:solidFill>
          <a:ln w="12700">
            <a:solidFill>
              <a:srgbClr val="93C5FD"/>
            </a:solidFill>
            <a:prstDash val="dash"/>
          </a:ln>
        </p:spPr>
        <p:txBody>
          <a:bodyPr lIns="45719" rIns="45719"/>
          <a:lstStyle/>
          <a:p>
            <a:pPr/>
          </a:p>
        </p:txBody>
      </p:sp>
      <p:sp>
        <p:nvSpPr>
          <p:cNvPr id="167" name="Text 8"/>
          <p:cNvSpPr txBox="1"/>
          <p:nvPr/>
        </p:nvSpPr>
        <p:spPr>
          <a:xfrm>
            <a:off x="685800" y="3957496"/>
            <a:ext cx="7772400" cy="451768"/>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defRPr i="1" sz="1100">
                <a:solidFill>
                  <a:srgbClr val="3B82F6"/>
                </a:solidFill>
              </a:defRPr>
            </a:pPr>
            <a:r>
              <a:t>Je tiens à remercier l’ensemble de l’équipe pour son accueil, sa disponibilité et son accompagnement tout au long de mon stage. Cette expérience m’a permis de développer de nouvelles compétences et d’enrichir mes connaissances dans un cadre professionnel agréable</a:t>
            </a:r>
            <a:r>
              <a:t>.</a:t>
            </a:r>
          </a:p>
        </p:txBody>
      </p:sp>
      <p:sp>
        <p:nvSpPr>
          <p:cNvPr id="168" name="Shape 9"/>
          <p:cNvSpPr/>
          <p:nvPr/>
        </p:nvSpPr>
        <p:spPr>
          <a:xfrm>
            <a:off x="0" y="4937759"/>
            <a:ext cx="9144000" cy="205741"/>
          </a:xfrm>
          <a:prstGeom prst="rect">
            <a:avLst/>
          </a:prstGeom>
          <a:solidFill>
            <a:srgbClr val="0891B2"/>
          </a:solidFill>
          <a:ln w="12700">
            <a:solidFill>
              <a:srgbClr val="0891B2"/>
            </a:solidFill>
          </a:ln>
        </p:spPr>
        <p:txBody>
          <a:bodyPr lIns="45719" rIns="45719"/>
          <a:lstStyle/>
          <a:p>
            <a:pPr/>
          </a:p>
        </p:txBody>
      </p:sp>
      <p:sp>
        <p:nvSpPr>
          <p:cNvPr id="169" name="Text 10"/>
          <p:cNvSpPr txBox="1"/>
          <p:nvPr/>
        </p:nvSpPr>
        <p:spPr>
          <a:xfrm>
            <a:off x="320040" y="4935387"/>
            <a:ext cx="8503920"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FFFFFF"/>
                </a:solidFill>
              </a:defRPr>
            </a:lvl1pPr>
          </a:lstStyle>
          <a:p>
            <a:pPr/>
            <a:r>
              <a:t>Rapport de stage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