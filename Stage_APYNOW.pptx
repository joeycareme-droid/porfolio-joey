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9"/>
  </p:notesMasterIdLst>
  <p:sldIdLst>
    <p:sldId id="256" r:id="rId2"/>
    <p:sldId id="257" r:id="rId3"/>
    <p:sldId id="258" r:id="rId4"/>
    <p:sldId id="259" r:id="rId5"/>
    <p:sldId id="260" r:id="rId6"/>
    <p:sldId id="261" r:id="rId7"/>
    <p:sldId id="262" r:id="rId8"/>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snapVertSplitter="1" vertBarState="minimized" horzBarState="maximized">
    <p:restoredLeft sz="9034" autoAdjust="0"/>
    <p:restoredTop sz="94610"/>
  </p:normalViewPr>
  <p:slideViewPr>
    <p:cSldViewPr snapToGrid="0" snapToObjects="1">
      <p:cViewPr varScale="1">
        <p:scale>
          <a:sx n="127" d="100"/>
          <a:sy n="127" d="100"/>
        </p:scale>
        <p:origin x="782" y="5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viewProps" Target="viewProps.xml"/><Relationship Id="rId5" Type="http://schemas.openxmlformats.org/officeDocument/2006/relationships/slide" Target="slides/slide4.xml"/><Relationship Id="rId10"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2397415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dirty="0"/>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dirty="0"/>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3557"/>
        </a:solidFill>
        <a:effectLst/>
      </p:bgPr>
    </p:bg>
    <p:spTree>
      <p:nvGrpSpPr>
        <p:cNvPr id="1" name=""/>
        <p:cNvGrpSpPr/>
        <p:nvPr/>
      </p:nvGrpSpPr>
      <p:grpSpPr>
        <a:xfrm>
          <a:off x="0" y="0"/>
          <a:ext cx="0" cy="0"/>
          <a:chOff x="0" y="0"/>
          <a:chExt cx="0" cy="0"/>
        </a:xfrm>
      </p:grpSpPr>
      <p:sp>
        <p:nvSpPr>
          <p:cNvPr id="2" name="Shape 0"/>
          <p:cNvSpPr/>
          <p:nvPr/>
        </p:nvSpPr>
        <p:spPr>
          <a:xfrm>
            <a:off x="0" y="0"/>
            <a:ext cx="9144000" cy="109728"/>
          </a:xfrm>
          <a:prstGeom prst="rect">
            <a:avLst/>
          </a:prstGeom>
          <a:solidFill>
            <a:srgbClr val="0891B2"/>
          </a:solidFill>
          <a:ln w="12700">
            <a:solidFill>
              <a:srgbClr val="0891B2"/>
            </a:solidFill>
            <a:prstDash val="solid"/>
          </a:ln>
        </p:spPr>
      </p:sp>
      <p:sp>
        <p:nvSpPr>
          <p:cNvPr id="3" name="Text 1"/>
          <p:cNvSpPr/>
          <p:nvPr/>
        </p:nvSpPr>
        <p:spPr>
          <a:xfrm>
            <a:off x="548640" y="548640"/>
            <a:ext cx="8046720" cy="731520"/>
          </a:xfrm>
          <a:prstGeom prst="rect">
            <a:avLst/>
          </a:prstGeom>
          <a:noFill/>
          <a:ln/>
        </p:spPr>
        <p:txBody>
          <a:bodyPr wrap="square" rtlCol="0" anchor="ctr"/>
          <a:lstStyle/>
          <a:p>
            <a:pPr marL="0" indent="0" algn="ctr">
              <a:buNone/>
            </a:pPr>
            <a:r>
              <a:rPr lang="en-US" sz="3800" b="1" kern="0" spc="400" dirty="0">
                <a:solidFill>
                  <a:srgbClr val="FFFFFF"/>
                </a:solidFill>
              </a:rPr>
              <a:t>RAPPORT DE STAGE</a:t>
            </a:r>
            <a:endParaRPr lang="en-US" sz="3800" dirty="0"/>
          </a:p>
        </p:txBody>
      </p:sp>
      <p:sp>
        <p:nvSpPr>
          <p:cNvPr id="5" name="Shape 3"/>
          <p:cNvSpPr/>
          <p:nvPr/>
        </p:nvSpPr>
        <p:spPr>
          <a:xfrm>
            <a:off x="1097280" y="1761974"/>
            <a:ext cx="6949440" cy="2286000"/>
          </a:xfrm>
          <a:prstGeom prst="rect">
            <a:avLst/>
          </a:prstGeom>
          <a:solidFill>
            <a:srgbClr val="FFFFFF"/>
          </a:solidFill>
          <a:ln w="25400">
            <a:solidFill>
              <a:srgbClr val="0891B2"/>
            </a:solidFill>
            <a:prstDash val="solid"/>
          </a:ln>
        </p:spPr>
        <p:txBody>
          <a:bodyPr/>
          <a:lstStyle/>
          <a:p>
            <a:endParaRPr lang="fr-FR" dirty="0"/>
          </a:p>
        </p:txBody>
      </p:sp>
      <p:sp>
        <p:nvSpPr>
          <p:cNvPr id="6" name="Shape 4"/>
          <p:cNvSpPr/>
          <p:nvPr/>
        </p:nvSpPr>
        <p:spPr>
          <a:xfrm>
            <a:off x="1371600" y="1841984"/>
            <a:ext cx="6400800" cy="411480"/>
          </a:xfrm>
          <a:prstGeom prst="rect">
            <a:avLst/>
          </a:prstGeom>
          <a:solidFill>
            <a:srgbClr val="EFF6FF"/>
          </a:solidFill>
          <a:ln w="12700">
            <a:solidFill>
              <a:srgbClr val="93C5FD"/>
            </a:solidFill>
            <a:prstDash val="dash"/>
          </a:ln>
        </p:spPr>
        <p:txBody>
          <a:bodyPr/>
          <a:lstStyle/>
          <a:p>
            <a:r>
              <a:rPr lang="fr-FR" dirty="0"/>
              <a:t>CAREME Joey</a:t>
            </a:r>
          </a:p>
        </p:txBody>
      </p:sp>
      <p:sp>
        <p:nvSpPr>
          <p:cNvPr id="8" name="Shape 6"/>
          <p:cNvSpPr/>
          <p:nvPr/>
        </p:nvSpPr>
        <p:spPr>
          <a:xfrm>
            <a:off x="1371600" y="2493494"/>
            <a:ext cx="6400800" cy="411480"/>
          </a:xfrm>
          <a:prstGeom prst="rect">
            <a:avLst/>
          </a:prstGeom>
          <a:solidFill>
            <a:srgbClr val="EFF6FF"/>
          </a:solidFill>
          <a:ln w="12700">
            <a:solidFill>
              <a:srgbClr val="93C5FD"/>
            </a:solidFill>
            <a:prstDash val="dash"/>
          </a:ln>
        </p:spPr>
      </p:sp>
      <p:sp>
        <p:nvSpPr>
          <p:cNvPr id="9" name="Text 7"/>
          <p:cNvSpPr/>
          <p:nvPr/>
        </p:nvSpPr>
        <p:spPr>
          <a:xfrm>
            <a:off x="1371600" y="2493494"/>
            <a:ext cx="6400800" cy="411480"/>
          </a:xfrm>
          <a:prstGeom prst="rect">
            <a:avLst/>
          </a:prstGeom>
          <a:noFill/>
          <a:ln/>
        </p:spPr>
        <p:txBody>
          <a:bodyPr wrap="square" lIns="76200" tIns="76200" rIns="76200" bIns="76200" rtlCol="0" anchor="ctr"/>
          <a:lstStyle/>
          <a:p>
            <a:pPr marL="0" indent="0" algn="l">
              <a:buNone/>
            </a:pPr>
            <a:r>
              <a:rPr lang="en-US" sz="1100" i="1" dirty="0">
                <a:solidFill>
                  <a:srgbClr val="3B82F6"/>
                </a:solidFill>
              </a:rPr>
              <a:t>APYNOW Consulting</a:t>
            </a:r>
            <a:endParaRPr lang="en-US" sz="1100" dirty="0"/>
          </a:p>
        </p:txBody>
      </p:sp>
      <p:sp>
        <p:nvSpPr>
          <p:cNvPr id="12" name="Text 10"/>
          <p:cNvSpPr/>
          <p:nvPr/>
        </p:nvSpPr>
        <p:spPr>
          <a:xfrm>
            <a:off x="1371600" y="3545054"/>
            <a:ext cx="457200" cy="320040"/>
          </a:xfrm>
          <a:prstGeom prst="rect">
            <a:avLst/>
          </a:prstGeom>
          <a:noFill/>
          <a:ln/>
        </p:spPr>
        <p:txBody>
          <a:bodyPr wrap="square" rtlCol="0" anchor="ctr"/>
          <a:lstStyle/>
          <a:p>
            <a:pPr marL="0" indent="0">
              <a:buNone/>
            </a:pPr>
            <a:r>
              <a:rPr lang="en-US" sz="1200" b="1" dirty="0">
                <a:solidFill>
                  <a:srgbClr val="1E293B"/>
                </a:solidFill>
              </a:rPr>
              <a:t>Du</a:t>
            </a:r>
            <a:endParaRPr lang="en-US" sz="1200" dirty="0"/>
          </a:p>
        </p:txBody>
      </p:sp>
      <p:sp>
        <p:nvSpPr>
          <p:cNvPr id="13" name="Shape 11"/>
          <p:cNvSpPr/>
          <p:nvPr/>
        </p:nvSpPr>
        <p:spPr>
          <a:xfrm>
            <a:off x="1828800" y="3545054"/>
            <a:ext cx="2286000" cy="320040"/>
          </a:xfrm>
          <a:prstGeom prst="rect">
            <a:avLst/>
          </a:prstGeom>
          <a:solidFill>
            <a:srgbClr val="EFF6FF"/>
          </a:solidFill>
          <a:ln w="12700">
            <a:solidFill>
              <a:srgbClr val="93C5FD"/>
            </a:solidFill>
            <a:prstDash val="dash"/>
          </a:ln>
        </p:spPr>
        <p:txBody>
          <a:bodyPr/>
          <a:lstStyle/>
          <a:p>
            <a:endParaRPr lang="fr-FR" dirty="0"/>
          </a:p>
        </p:txBody>
      </p:sp>
      <p:sp>
        <p:nvSpPr>
          <p:cNvPr id="14" name="Text 12"/>
          <p:cNvSpPr/>
          <p:nvPr/>
        </p:nvSpPr>
        <p:spPr>
          <a:xfrm>
            <a:off x="1828800" y="3545054"/>
            <a:ext cx="2286000" cy="320040"/>
          </a:xfrm>
          <a:prstGeom prst="rect">
            <a:avLst/>
          </a:prstGeom>
          <a:noFill/>
          <a:ln/>
        </p:spPr>
        <p:txBody>
          <a:bodyPr wrap="square" lIns="76200" tIns="76200" rIns="76200" bIns="76200" rtlCol="0" anchor="ctr"/>
          <a:lstStyle/>
          <a:p>
            <a:pPr marL="0" indent="0" algn="l">
              <a:buNone/>
            </a:pPr>
            <a:r>
              <a:rPr lang="en-US" sz="1100" i="1" dirty="0">
                <a:solidFill>
                  <a:srgbClr val="3B82F6"/>
                </a:solidFill>
              </a:rPr>
              <a:t>02/01/2026</a:t>
            </a:r>
            <a:endParaRPr lang="en-US" sz="1100" dirty="0"/>
          </a:p>
        </p:txBody>
      </p:sp>
      <p:sp>
        <p:nvSpPr>
          <p:cNvPr id="15" name="Text 13"/>
          <p:cNvSpPr/>
          <p:nvPr/>
        </p:nvSpPr>
        <p:spPr>
          <a:xfrm>
            <a:off x="4206240" y="3545054"/>
            <a:ext cx="457200" cy="320040"/>
          </a:xfrm>
          <a:prstGeom prst="rect">
            <a:avLst/>
          </a:prstGeom>
          <a:noFill/>
          <a:ln/>
        </p:spPr>
        <p:txBody>
          <a:bodyPr wrap="square" rtlCol="0" anchor="ctr"/>
          <a:lstStyle/>
          <a:p>
            <a:pPr marL="0" indent="0" algn="ctr">
              <a:buNone/>
            </a:pPr>
            <a:r>
              <a:rPr lang="en-US" sz="1200" b="1" dirty="0">
                <a:solidFill>
                  <a:srgbClr val="1E293B"/>
                </a:solidFill>
              </a:rPr>
              <a:t>au</a:t>
            </a:r>
            <a:endParaRPr lang="en-US" sz="1200" dirty="0"/>
          </a:p>
        </p:txBody>
      </p:sp>
      <p:sp>
        <p:nvSpPr>
          <p:cNvPr id="16" name="Shape 14"/>
          <p:cNvSpPr/>
          <p:nvPr/>
        </p:nvSpPr>
        <p:spPr>
          <a:xfrm>
            <a:off x="4754880" y="3545054"/>
            <a:ext cx="2286000" cy="320040"/>
          </a:xfrm>
          <a:prstGeom prst="rect">
            <a:avLst/>
          </a:prstGeom>
          <a:solidFill>
            <a:srgbClr val="EFF6FF"/>
          </a:solidFill>
          <a:ln w="12700">
            <a:solidFill>
              <a:srgbClr val="93C5FD"/>
            </a:solidFill>
            <a:prstDash val="dash"/>
          </a:ln>
        </p:spPr>
      </p:sp>
      <p:sp>
        <p:nvSpPr>
          <p:cNvPr id="17" name="Text 15"/>
          <p:cNvSpPr/>
          <p:nvPr/>
        </p:nvSpPr>
        <p:spPr>
          <a:xfrm>
            <a:off x="4754880" y="3545054"/>
            <a:ext cx="2286000" cy="320040"/>
          </a:xfrm>
          <a:prstGeom prst="rect">
            <a:avLst/>
          </a:prstGeom>
          <a:noFill/>
          <a:ln/>
        </p:spPr>
        <p:txBody>
          <a:bodyPr wrap="square" lIns="76200" tIns="76200" rIns="76200" bIns="76200" rtlCol="0" anchor="ctr"/>
          <a:lstStyle/>
          <a:p>
            <a:pPr marL="0" indent="0" algn="l">
              <a:buNone/>
            </a:pPr>
            <a:r>
              <a:rPr lang="en-US" sz="1100" i="1" dirty="0">
                <a:solidFill>
                  <a:srgbClr val="3B82F6"/>
                </a:solidFill>
              </a:rPr>
              <a:t>06/02/2026</a:t>
            </a:r>
            <a:endParaRPr lang="en-US" sz="1100" dirty="0"/>
          </a:p>
        </p:txBody>
      </p:sp>
      <p:sp>
        <p:nvSpPr>
          <p:cNvPr id="18" name="Shape 16"/>
          <p:cNvSpPr/>
          <p:nvPr/>
        </p:nvSpPr>
        <p:spPr>
          <a:xfrm>
            <a:off x="548640" y="4002254"/>
            <a:ext cx="3200400" cy="973304"/>
          </a:xfrm>
          <a:prstGeom prst="rect">
            <a:avLst/>
          </a:prstGeom>
          <a:solidFill>
            <a:srgbClr val="F1F5F9"/>
          </a:solidFill>
          <a:ln w="12700">
            <a:solidFill>
              <a:srgbClr val="CBD5E1"/>
            </a:solidFill>
            <a:prstDash val="solid"/>
          </a:ln>
        </p:spPr>
      </p:sp>
      <p:sp>
        <p:nvSpPr>
          <p:cNvPr id="19" name="Text 17"/>
          <p:cNvSpPr/>
          <p:nvPr/>
        </p:nvSpPr>
        <p:spPr>
          <a:xfrm>
            <a:off x="548640" y="4002254"/>
            <a:ext cx="3200400" cy="973304"/>
          </a:xfrm>
          <a:prstGeom prst="rect">
            <a:avLst/>
          </a:prstGeom>
          <a:noFill/>
          <a:ln/>
        </p:spPr>
        <p:txBody>
          <a:bodyPr wrap="square" rtlCol="0" anchor="ctr"/>
          <a:lstStyle/>
          <a:p>
            <a:pPr marL="0" indent="0" algn="ctr">
              <a:buNone/>
            </a:pPr>
            <a:r>
              <a:rPr lang="en-US" sz="1400" dirty="0">
                <a:latin typeface="Algerian" panose="04020705040A02060702" pitchFamily="82" charset="0"/>
              </a:rPr>
              <a:t>Lycée polyvalent </a:t>
            </a:r>
          </a:p>
          <a:p>
            <a:pPr marL="0" indent="0" algn="ctr">
              <a:buNone/>
            </a:pPr>
            <a:r>
              <a:rPr lang="en-US" sz="1400" dirty="0" err="1">
                <a:latin typeface="Algerian" panose="04020705040A02060702" pitchFamily="82" charset="0"/>
              </a:rPr>
              <a:t>Melkior</a:t>
            </a:r>
            <a:r>
              <a:rPr lang="en-US" sz="1400" dirty="0">
                <a:latin typeface="Algerian" panose="04020705040A02060702" pitchFamily="82" charset="0"/>
              </a:rPr>
              <a:t> </a:t>
            </a:r>
            <a:r>
              <a:rPr lang="en-US" sz="1400" dirty="0" err="1">
                <a:latin typeface="Algerian" panose="04020705040A02060702" pitchFamily="82" charset="0"/>
              </a:rPr>
              <a:t>Garré</a:t>
            </a:r>
            <a:endParaRPr lang="en-US" sz="1400" dirty="0">
              <a:latin typeface="Algerian" panose="04020705040A02060702" pitchFamily="82" charset="0"/>
            </a:endParaRPr>
          </a:p>
        </p:txBody>
      </p:sp>
      <p:sp>
        <p:nvSpPr>
          <p:cNvPr id="20" name="Shape 18"/>
          <p:cNvSpPr/>
          <p:nvPr/>
        </p:nvSpPr>
        <p:spPr>
          <a:xfrm>
            <a:off x="5394960" y="4002254"/>
            <a:ext cx="3200400" cy="973304"/>
          </a:xfrm>
          <a:prstGeom prst="rect">
            <a:avLst/>
          </a:prstGeom>
          <a:solidFill>
            <a:srgbClr val="F1F5F9"/>
          </a:solidFill>
          <a:ln w="12700">
            <a:solidFill>
              <a:srgbClr val="CBD5E1"/>
            </a:solidFill>
            <a:prstDash val="solid"/>
          </a:ln>
        </p:spPr>
      </p:sp>
      <p:sp>
        <p:nvSpPr>
          <p:cNvPr id="21" name="Text 19"/>
          <p:cNvSpPr/>
          <p:nvPr/>
        </p:nvSpPr>
        <p:spPr>
          <a:xfrm>
            <a:off x="5394960" y="4002254"/>
            <a:ext cx="3200400" cy="973304"/>
          </a:xfrm>
          <a:prstGeom prst="rect">
            <a:avLst/>
          </a:prstGeom>
          <a:noFill/>
          <a:ln/>
        </p:spPr>
        <p:txBody>
          <a:bodyPr wrap="square" rtlCol="0" anchor="ctr"/>
          <a:lstStyle/>
          <a:p>
            <a:pPr marL="0" indent="0" algn="ctr">
              <a:buNone/>
            </a:pPr>
            <a:endParaRPr lang="en-US" sz="1100" dirty="0"/>
          </a:p>
        </p:txBody>
      </p:sp>
      <p:sp>
        <p:nvSpPr>
          <p:cNvPr id="22" name="Shape 20"/>
          <p:cNvSpPr/>
          <p:nvPr/>
        </p:nvSpPr>
        <p:spPr>
          <a:xfrm>
            <a:off x="0" y="5052060"/>
            <a:ext cx="9144000" cy="91440"/>
          </a:xfrm>
          <a:prstGeom prst="rect">
            <a:avLst/>
          </a:prstGeom>
          <a:solidFill>
            <a:srgbClr val="F59E0B"/>
          </a:solidFill>
          <a:ln w="12700">
            <a:solidFill>
              <a:srgbClr val="F59E0B"/>
            </a:solidFill>
            <a:prstDash val="solid"/>
          </a:ln>
        </p:spPr>
      </p:sp>
      <p:pic>
        <p:nvPicPr>
          <p:cNvPr id="23" name="Image 22">
            <a:extLst>
              <a:ext uri="{FF2B5EF4-FFF2-40B4-BE49-F238E27FC236}">
                <a16:creationId xmlns:a16="http://schemas.microsoft.com/office/drawing/2014/main" id="{49161425-5394-A955-502C-7B144043015A}"/>
              </a:ext>
            </a:extLst>
          </p:cNvPr>
          <p:cNvPicPr>
            <a:picLocks noChangeAspect="1"/>
          </p:cNvPicPr>
          <p:nvPr/>
        </p:nvPicPr>
        <p:blipFill>
          <a:blip r:embed="rId3"/>
          <a:stretch>
            <a:fillRect/>
          </a:stretch>
        </p:blipFill>
        <p:spPr>
          <a:xfrm>
            <a:off x="5394959" y="4005995"/>
            <a:ext cx="3200399" cy="969563"/>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09728" cy="5143500"/>
          </a:xfrm>
          <a:prstGeom prst="rect">
            <a:avLst/>
          </a:prstGeom>
          <a:solidFill>
            <a:srgbClr val="0891B2"/>
          </a:solidFill>
          <a:ln w="12700">
            <a:solidFill>
              <a:srgbClr val="0891B2"/>
            </a:solidFill>
            <a:prstDash val="solid"/>
          </a:ln>
        </p:spPr>
      </p:sp>
      <p:sp>
        <p:nvSpPr>
          <p:cNvPr id="3" name="Text 1"/>
          <p:cNvSpPr/>
          <p:nvPr/>
        </p:nvSpPr>
        <p:spPr>
          <a:xfrm>
            <a:off x="365760" y="320040"/>
            <a:ext cx="8229600" cy="548640"/>
          </a:xfrm>
          <a:prstGeom prst="rect">
            <a:avLst/>
          </a:prstGeom>
          <a:noFill/>
          <a:ln/>
        </p:spPr>
        <p:txBody>
          <a:bodyPr wrap="square" rtlCol="0" anchor="ctr"/>
          <a:lstStyle/>
          <a:p>
            <a:pPr marL="0" indent="0">
              <a:buNone/>
            </a:pPr>
            <a:r>
              <a:rPr lang="en-US" sz="3000" b="1" kern="0" spc="300" dirty="0">
                <a:solidFill>
                  <a:srgbClr val="1A3557"/>
                </a:solidFill>
              </a:rPr>
              <a:t>SOMMAIRE</a:t>
            </a:r>
            <a:endParaRPr lang="en-US" sz="3000" dirty="0"/>
          </a:p>
        </p:txBody>
      </p:sp>
      <p:sp>
        <p:nvSpPr>
          <p:cNvPr id="4" name="Shape 2"/>
          <p:cNvSpPr/>
          <p:nvPr/>
        </p:nvSpPr>
        <p:spPr>
          <a:xfrm>
            <a:off x="365760" y="1005840"/>
            <a:ext cx="502920" cy="502920"/>
          </a:xfrm>
          <a:prstGeom prst="rect">
            <a:avLst/>
          </a:prstGeom>
          <a:solidFill>
            <a:srgbClr val="1A3557"/>
          </a:solidFill>
          <a:ln w="12700">
            <a:solidFill>
              <a:srgbClr val="1A3557"/>
            </a:solidFill>
            <a:prstDash val="solid"/>
          </a:ln>
        </p:spPr>
      </p:sp>
      <p:sp>
        <p:nvSpPr>
          <p:cNvPr id="5" name="Text 3"/>
          <p:cNvSpPr/>
          <p:nvPr/>
        </p:nvSpPr>
        <p:spPr>
          <a:xfrm>
            <a:off x="365760" y="1005840"/>
            <a:ext cx="502920" cy="502920"/>
          </a:xfrm>
          <a:prstGeom prst="rect">
            <a:avLst/>
          </a:prstGeom>
          <a:noFill/>
          <a:ln/>
        </p:spPr>
        <p:txBody>
          <a:bodyPr wrap="square" rtlCol="0" anchor="ctr"/>
          <a:lstStyle/>
          <a:p>
            <a:pPr marL="0" indent="0" algn="ctr">
              <a:buNone/>
            </a:pPr>
            <a:r>
              <a:rPr lang="en-US" sz="1600" b="1" dirty="0">
                <a:solidFill>
                  <a:srgbClr val="FFFFFF"/>
                </a:solidFill>
              </a:rPr>
              <a:t>01</a:t>
            </a:r>
            <a:endParaRPr lang="en-US" sz="1600" dirty="0"/>
          </a:p>
        </p:txBody>
      </p:sp>
      <p:sp>
        <p:nvSpPr>
          <p:cNvPr id="6" name="Text 4"/>
          <p:cNvSpPr/>
          <p:nvPr/>
        </p:nvSpPr>
        <p:spPr>
          <a:xfrm>
            <a:off x="1051560" y="1051560"/>
            <a:ext cx="7498080" cy="411480"/>
          </a:xfrm>
          <a:prstGeom prst="rect">
            <a:avLst/>
          </a:prstGeom>
          <a:noFill/>
          <a:ln/>
        </p:spPr>
        <p:txBody>
          <a:bodyPr wrap="square" rtlCol="0" anchor="ctr"/>
          <a:lstStyle/>
          <a:p>
            <a:pPr marL="0" indent="0">
              <a:buNone/>
            </a:pPr>
            <a:r>
              <a:rPr lang="en-US" sz="1600" dirty="0">
                <a:solidFill>
                  <a:srgbClr val="1E293B"/>
                </a:solidFill>
              </a:rPr>
              <a:t>Présentation de l'entreprise</a:t>
            </a:r>
            <a:endParaRPr lang="en-US" sz="1600" dirty="0"/>
          </a:p>
        </p:txBody>
      </p:sp>
      <p:sp>
        <p:nvSpPr>
          <p:cNvPr id="7" name="Shape 5"/>
          <p:cNvSpPr/>
          <p:nvPr/>
        </p:nvSpPr>
        <p:spPr>
          <a:xfrm>
            <a:off x="365760" y="1554480"/>
            <a:ext cx="8138160" cy="9144"/>
          </a:xfrm>
          <a:prstGeom prst="rect">
            <a:avLst/>
          </a:prstGeom>
          <a:solidFill>
            <a:srgbClr val="E2E8F0"/>
          </a:solidFill>
          <a:ln w="12700">
            <a:solidFill>
              <a:srgbClr val="E2E8F0"/>
            </a:solidFill>
            <a:prstDash val="solid"/>
          </a:ln>
        </p:spPr>
      </p:sp>
      <p:sp>
        <p:nvSpPr>
          <p:cNvPr id="8" name="Shape 6"/>
          <p:cNvSpPr/>
          <p:nvPr/>
        </p:nvSpPr>
        <p:spPr>
          <a:xfrm>
            <a:off x="365760" y="1755648"/>
            <a:ext cx="502920" cy="502920"/>
          </a:xfrm>
          <a:prstGeom prst="rect">
            <a:avLst/>
          </a:prstGeom>
          <a:solidFill>
            <a:srgbClr val="1A3557"/>
          </a:solidFill>
          <a:ln w="12700">
            <a:solidFill>
              <a:srgbClr val="1A3557"/>
            </a:solidFill>
            <a:prstDash val="solid"/>
          </a:ln>
        </p:spPr>
      </p:sp>
      <p:sp>
        <p:nvSpPr>
          <p:cNvPr id="9" name="Text 7"/>
          <p:cNvSpPr/>
          <p:nvPr/>
        </p:nvSpPr>
        <p:spPr>
          <a:xfrm>
            <a:off x="365760" y="1755648"/>
            <a:ext cx="502920" cy="502920"/>
          </a:xfrm>
          <a:prstGeom prst="rect">
            <a:avLst/>
          </a:prstGeom>
          <a:noFill/>
          <a:ln/>
        </p:spPr>
        <p:txBody>
          <a:bodyPr wrap="square" rtlCol="0" anchor="ctr"/>
          <a:lstStyle/>
          <a:p>
            <a:pPr marL="0" indent="0" algn="ctr">
              <a:buNone/>
            </a:pPr>
            <a:r>
              <a:rPr lang="en-US" sz="1600" b="1" dirty="0">
                <a:solidFill>
                  <a:srgbClr val="FFFFFF"/>
                </a:solidFill>
              </a:rPr>
              <a:t>02</a:t>
            </a:r>
            <a:endParaRPr lang="en-US" sz="1600" dirty="0"/>
          </a:p>
        </p:txBody>
      </p:sp>
      <p:sp>
        <p:nvSpPr>
          <p:cNvPr id="10" name="Text 8"/>
          <p:cNvSpPr/>
          <p:nvPr/>
        </p:nvSpPr>
        <p:spPr>
          <a:xfrm>
            <a:off x="1051560" y="1801368"/>
            <a:ext cx="7498080" cy="411480"/>
          </a:xfrm>
          <a:prstGeom prst="rect">
            <a:avLst/>
          </a:prstGeom>
          <a:noFill/>
          <a:ln/>
        </p:spPr>
        <p:txBody>
          <a:bodyPr wrap="square" rtlCol="0" anchor="ctr"/>
          <a:lstStyle/>
          <a:p>
            <a:pPr marL="0" indent="0">
              <a:buNone/>
            </a:pPr>
            <a:r>
              <a:rPr lang="en-US" sz="1600" dirty="0">
                <a:solidFill>
                  <a:srgbClr val="1E293B"/>
                </a:solidFill>
              </a:rPr>
              <a:t>Missions et activités réalisées</a:t>
            </a:r>
            <a:endParaRPr lang="en-US" sz="1600" dirty="0"/>
          </a:p>
        </p:txBody>
      </p:sp>
      <p:sp>
        <p:nvSpPr>
          <p:cNvPr id="11" name="Shape 9"/>
          <p:cNvSpPr/>
          <p:nvPr/>
        </p:nvSpPr>
        <p:spPr>
          <a:xfrm>
            <a:off x="365760" y="2304288"/>
            <a:ext cx="8138160" cy="9144"/>
          </a:xfrm>
          <a:prstGeom prst="rect">
            <a:avLst/>
          </a:prstGeom>
          <a:solidFill>
            <a:srgbClr val="E2E8F0"/>
          </a:solidFill>
          <a:ln w="12700">
            <a:solidFill>
              <a:srgbClr val="E2E8F0"/>
            </a:solidFill>
            <a:prstDash val="solid"/>
          </a:ln>
        </p:spPr>
      </p:sp>
      <p:sp>
        <p:nvSpPr>
          <p:cNvPr id="12" name="Shape 10"/>
          <p:cNvSpPr/>
          <p:nvPr/>
        </p:nvSpPr>
        <p:spPr>
          <a:xfrm>
            <a:off x="365760" y="2505456"/>
            <a:ext cx="502920" cy="502920"/>
          </a:xfrm>
          <a:prstGeom prst="rect">
            <a:avLst/>
          </a:prstGeom>
          <a:solidFill>
            <a:srgbClr val="1A3557"/>
          </a:solidFill>
          <a:ln w="12700">
            <a:solidFill>
              <a:srgbClr val="1A3557"/>
            </a:solidFill>
            <a:prstDash val="solid"/>
          </a:ln>
        </p:spPr>
      </p:sp>
      <p:sp>
        <p:nvSpPr>
          <p:cNvPr id="13" name="Text 11"/>
          <p:cNvSpPr/>
          <p:nvPr/>
        </p:nvSpPr>
        <p:spPr>
          <a:xfrm>
            <a:off x="365760" y="2505456"/>
            <a:ext cx="502920" cy="502920"/>
          </a:xfrm>
          <a:prstGeom prst="rect">
            <a:avLst/>
          </a:prstGeom>
          <a:noFill/>
          <a:ln/>
        </p:spPr>
        <p:txBody>
          <a:bodyPr wrap="square" rtlCol="0" anchor="ctr"/>
          <a:lstStyle/>
          <a:p>
            <a:pPr marL="0" indent="0" algn="ctr">
              <a:buNone/>
            </a:pPr>
            <a:r>
              <a:rPr lang="en-US" sz="1600" b="1" dirty="0">
                <a:solidFill>
                  <a:srgbClr val="FFFFFF"/>
                </a:solidFill>
              </a:rPr>
              <a:t>03</a:t>
            </a:r>
            <a:endParaRPr lang="en-US" sz="1600" dirty="0"/>
          </a:p>
        </p:txBody>
      </p:sp>
      <p:sp>
        <p:nvSpPr>
          <p:cNvPr id="14" name="Text 12"/>
          <p:cNvSpPr/>
          <p:nvPr/>
        </p:nvSpPr>
        <p:spPr>
          <a:xfrm>
            <a:off x="1051560" y="2551176"/>
            <a:ext cx="7498080" cy="411480"/>
          </a:xfrm>
          <a:prstGeom prst="rect">
            <a:avLst/>
          </a:prstGeom>
          <a:noFill/>
          <a:ln/>
        </p:spPr>
        <p:txBody>
          <a:bodyPr wrap="square" rtlCol="0" anchor="ctr"/>
          <a:lstStyle/>
          <a:p>
            <a:pPr marL="0" indent="0">
              <a:buNone/>
            </a:pPr>
            <a:r>
              <a:rPr lang="en-US" sz="1600" dirty="0">
                <a:solidFill>
                  <a:srgbClr val="1E293B"/>
                </a:solidFill>
              </a:rPr>
              <a:t>Compétences acquises</a:t>
            </a:r>
            <a:endParaRPr lang="en-US" sz="1600" dirty="0"/>
          </a:p>
        </p:txBody>
      </p:sp>
      <p:sp>
        <p:nvSpPr>
          <p:cNvPr id="15" name="Shape 13"/>
          <p:cNvSpPr/>
          <p:nvPr/>
        </p:nvSpPr>
        <p:spPr>
          <a:xfrm>
            <a:off x="365760" y="3054096"/>
            <a:ext cx="8138160" cy="9144"/>
          </a:xfrm>
          <a:prstGeom prst="rect">
            <a:avLst/>
          </a:prstGeom>
          <a:solidFill>
            <a:srgbClr val="E2E8F0"/>
          </a:solidFill>
          <a:ln w="12700">
            <a:solidFill>
              <a:srgbClr val="E2E8F0"/>
            </a:solidFill>
            <a:prstDash val="solid"/>
          </a:ln>
        </p:spPr>
      </p:sp>
      <p:sp>
        <p:nvSpPr>
          <p:cNvPr id="16" name="Shape 14"/>
          <p:cNvSpPr/>
          <p:nvPr/>
        </p:nvSpPr>
        <p:spPr>
          <a:xfrm>
            <a:off x="365760" y="3255264"/>
            <a:ext cx="502920" cy="502920"/>
          </a:xfrm>
          <a:prstGeom prst="rect">
            <a:avLst/>
          </a:prstGeom>
          <a:solidFill>
            <a:srgbClr val="1A3557"/>
          </a:solidFill>
          <a:ln w="12700">
            <a:solidFill>
              <a:srgbClr val="1A3557"/>
            </a:solidFill>
            <a:prstDash val="solid"/>
          </a:ln>
        </p:spPr>
      </p:sp>
      <p:sp>
        <p:nvSpPr>
          <p:cNvPr id="17" name="Text 15"/>
          <p:cNvSpPr/>
          <p:nvPr/>
        </p:nvSpPr>
        <p:spPr>
          <a:xfrm>
            <a:off x="365760" y="3255264"/>
            <a:ext cx="502920" cy="502920"/>
          </a:xfrm>
          <a:prstGeom prst="rect">
            <a:avLst/>
          </a:prstGeom>
          <a:noFill/>
          <a:ln/>
        </p:spPr>
        <p:txBody>
          <a:bodyPr wrap="square" rtlCol="0" anchor="ctr"/>
          <a:lstStyle/>
          <a:p>
            <a:pPr marL="0" indent="0" algn="ctr">
              <a:buNone/>
            </a:pPr>
            <a:r>
              <a:rPr lang="en-US" sz="1600" b="1" dirty="0">
                <a:solidFill>
                  <a:srgbClr val="FFFFFF"/>
                </a:solidFill>
              </a:rPr>
              <a:t>04</a:t>
            </a:r>
            <a:endParaRPr lang="en-US" sz="1600" dirty="0"/>
          </a:p>
        </p:txBody>
      </p:sp>
      <p:sp>
        <p:nvSpPr>
          <p:cNvPr id="18" name="Text 16"/>
          <p:cNvSpPr/>
          <p:nvPr/>
        </p:nvSpPr>
        <p:spPr>
          <a:xfrm>
            <a:off x="1051560" y="3300984"/>
            <a:ext cx="7498080" cy="411480"/>
          </a:xfrm>
          <a:prstGeom prst="rect">
            <a:avLst/>
          </a:prstGeom>
          <a:noFill/>
          <a:ln/>
        </p:spPr>
        <p:txBody>
          <a:bodyPr wrap="square" rtlCol="0" anchor="ctr"/>
          <a:lstStyle/>
          <a:p>
            <a:pPr marL="0" indent="0">
              <a:buNone/>
            </a:pPr>
            <a:r>
              <a:rPr lang="en-US" sz="1600" dirty="0">
                <a:solidFill>
                  <a:srgbClr val="1E293B"/>
                </a:solidFill>
              </a:rPr>
              <a:t>Bilan personnel</a:t>
            </a:r>
            <a:endParaRPr lang="en-US" sz="1600" dirty="0"/>
          </a:p>
        </p:txBody>
      </p:sp>
      <p:sp>
        <p:nvSpPr>
          <p:cNvPr id="19" name="Shape 17"/>
          <p:cNvSpPr/>
          <p:nvPr/>
        </p:nvSpPr>
        <p:spPr>
          <a:xfrm>
            <a:off x="365760" y="3803904"/>
            <a:ext cx="8138160" cy="9144"/>
          </a:xfrm>
          <a:prstGeom prst="rect">
            <a:avLst/>
          </a:prstGeom>
          <a:solidFill>
            <a:srgbClr val="E2E8F0"/>
          </a:solidFill>
          <a:ln w="12700">
            <a:solidFill>
              <a:srgbClr val="E2E8F0"/>
            </a:solidFill>
            <a:prstDash val="solid"/>
          </a:ln>
        </p:spPr>
      </p:sp>
      <p:sp>
        <p:nvSpPr>
          <p:cNvPr id="20" name="Shape 18"/>
          <p:cNvSpPr/>
          <p:nvPr/>
        </p:nvSpPr>
        <p:spPr>
          <a:xfrm>
            <a:off x="365760" y="4005072"/>
            <a:ext cx="502920" cy="502920"/>
          </a:xfrm>
          <a:prstGeom prst="rect">
            <a:avLst/>
          </a:prstGeom>
          <a:solidFill>
            <a:srgbClr val="1A3557"/>
          </a:solidFill>
          <a:ln w="12700">
            <a:solidFill>
              <a:srgbClr val="1A3557"/>
            </a:solidFill>
            <a:prstDash val="solid"/>
          </a:ln>
        </p:spPr>
      </p:sp>
      <p:sp>
        <p:nvSpPr>
          <p:cNvPr id="21" name="Text 19"/>
          <p:cNvSpPr/>
          <p:nvPr/>
        </p:nvSpPr>
        <p:spPr>
          <a:xfrm>
            <a:off x="365760" y="4005072"/>
            <a:ext cx="502920" cy="502920"/>
          </a:xfrm>
          <a:prstGeom prst="rect">
            <a:avLst/>
          </a:prstGeom>
          <a:noFill/>
          <a:ln/>
        </p:spPr>
        <p:txBody>
          <a:bodyPr wrap="square" rtlCol="0" anchor="ctr"/>
          <a:lstStyle/>
          <a:p>
            <a:pPr marL="0" indent="0" algn="ctr">
              <a:buNone/>
            </a:pPr>
            <a:r>
              <a:rPr lang="en-US" sz="1600" b="1" dirty="0">
                <a:solidFill>
                  <a:srgbClr val="FFFFFF"/>
                </a:solidFill>
              </a:rPr>
              <a:t>05</a:t>
            </a:r>
            <a:endParaRPr lang="en-US" sz="1600" dirty="0"/>
          </a:p>
        </p:txBody>
      </p:sp>
      <p:sp>
        <p:nvSpPr>
          <p:cNvPr id="22" name="Text 20"/>
          <p:cNvSpPr/>
          <p:nvPr/>
        </p:nvSpPr>
        <p:spPr>
          <a:xfrm>
            <a:off x="1051560" y="4050792"/>
            <a:ext cx="7498080" cy="411480"/>
          </a:xfrm>
          <a:prstGeom prst="rect">
            <a:avLst/>
          </a:prstGeom>
          <a:noFill/>
          <a:ln/>
        </p:spPr>
        <p:txBody>
          <a:bodyPr wrap="square" rtlCol="0" anchor="ctr"/>
          <a:lstStyle/>
          <a:p>
            <a:pPr marL="0" indent="0">
              <a:buNone/>
            </a:pPr>
            <a:r>
              <a:rPr lang="en-US" sz="1600" dirty="0">
                <a:solidFill>
                  <a:srgbClr val="1E293B"/>
                </a:solidFill>
              </a:rPr>
              <a:t>Conclusion</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1005840"/>
          </a:xfrm>
          <a:prstGeom prst="rect">
            <a:avLst/>
          </a:prstGeom>
          <a:solidFill>
            <a:srgbClr val="1A3557"/>
          </a:solidFill>
          <a:ln w="12700">
            <a:solidFill>
              <a:srgbClr val="1A3557"/>
            </a:solidFill>
            <a:prstDash val="solid"/>
          </a:ln>
        </p:spPr>
      </p:sp>
      <p:sp>
        <p:nvSpPr>
          <p:cNvPr id="3" name="Text 1"/>
          <p:cNvSpPr/>
          <p:nvPr/>
        </p:nvSpPr>
        <p:spPr>
          <a:xfrm>
            <a:off x="457200" y="228600"/>
            <a:ext cx="8229600" cy="548640"/>
          </a:xfrm>
          <a:prstGeom prst="rect">
            <a:avLst/>
          </a:prstGeom>
          <a:noFill/>
          <a:ln/>
        </p:spPr>
        <p:txBody>
          <a:bodyPr wrap="square" rtlCol="0" anchor="ctr"/>
          <a:lstStyle/>
          <a:p>
            <a:pPr marL="0" indent="0">
              <a:buNone/>
            </a:pPr>
            <a:r>
              <a:rPr lang="en-US" sz="2200" b="1" kern="0" spc="100" dirty="0">
                <a:solidFill>
                  <a:srgbClr val="FFFFFF"/>
                </a:solidFill>
              </a:rPr>
              <a:t>01  |  PRÉSENTATION DE L'ENTREPRISE</a:t>
            </a:r>
            <a:endParaRPr lang="en-US" sz="2200" dirty="0"/>
          </a:p>
        </p:txBody>
      </p:sp>
      <p:sp>
        <p:nvSpPr>
          <p:cNvPr id="4" name="Shape 2"/>
          <p:cNvSpPr/>
          <p:nvPr/>
        </p:nvSpPr>
        <p:spPr>
          <a:xfrm>
            <a:off x="365760" y="1143000"/>
            <a:ext cx="3931920" cy="45720"/>
          </a:xfrm>
          <a:prstGeom prst="rect">
            <a:avLst/>
          </a:prstGeom>
          <a:solidFill>
            <a:srgbClr val="0891B2"/>
          </a:solidFill>
          <a:ln w="12700">
            <a:solidFill>
              <a:srgbClr val="0891B2"/>
            </a:solidFill>
            <a:prstDash val="solid"/>
          </a:ln>
        </p:spPr>
      </p:sp>
      <p:sp>
        <p:nvSpPr>
          <p:cNvPr id="5" name="Text 3"/>
          <p:cNvSpPr/>
          <p:nvPr/>
        </p:nvSpPr>
        <p:spPr>
          <a:xfrm>
            <a:off x="365760" y="1234440"/>
            <a:ext cx="3931920" cy="320040"/>
          </a:xfrm>
          <a:prstGeom prst="rect">
            <a:avLst/>
          </a:prstGeom>
          <a:noFill/>
          <a:ln/>
        </p:spPr>
        <p:txBody>
          <a:bodyPr wrap="square" lIns="0" tIns="0" rIns="0" bIns="0" rtlCol="0" anchor="ctr"/>
          <a:lstStyle/>
          <a:p>
            <a:pPr marL="0" indent="0">
              <a:buNone/>
            </a:pPr>
            <a:r>
              <a:rPr lang="en-US" sz="1200" b="1" kern="0" spc="200" dirty="0">
                <a:solidFill>
                  <a:srgbClr val="1A3557"/>
                </a:solidFill>
              </a:rPr>
              <a:t>INFORMATIONS GÉNÉRALES</a:t>
            </a:r>
            <a:endParaRPr lang="en-US" sz="1200" dirty="0"/>
          </a:p>
        </p:txBody>
      </p:sp>
      <p:sp>
        <p:nvSpPr>
          <p:cNvPr id="6" name="Shape 4"/>
          <p:cNvSpPr/>
          <p:nvPr/>
        </p:nvSpPr>
        <p:spPr>
          <a:xfrm>
            <a:off x="365760" y="1600200"/>
            <a:ext cx="3931920" cy="411480"/>
          </a:xfrm>
          <a:prstGeom prst="rect">
            <a:avLst/>
          </a:prstGeom>
          <a:solidFill>
            <a:srgbClr val="EFF6FF"/>
          </a:solidFill>
          <a:ln w="12700">
            <a:solidFill>
              <a:srgbClr val="93C5FD"/>
            </a:solidFill>
            <a:prstDash val="dash"/>
          </a:ln>
        </p:spPr>
      </p:sp>
      <p:sp>
        <p:nvSpPr>
          <p:cNvPr id="7" name="Text 5"/>
          <p:cNvSpPr/>
          <p:nvPr/>
        </p:nvSpPr>
        <p:spPr>
          <a:xfrm>
            <a:off x="365760" y="1600200"/>
            <a:ext cx="3931920" cy="411480"/>
          </a:xfrm>
          <a:prstGeom prst="rect">
            <a:avLst/>
          </a:prstGeom>
          <a:noFill/>
          <a:ln/>
        </p:spPr>
        <p:txBody>
          <a:bodyPr wrap="square" lIns="76200" tIns="76200" rIns="76200" bIns="76200" rtlCol="0" anchor="ctr"/>
          <a:lstStyle/>
          <a:p>
            <a:pPr marL="0" indent="0" algn="l">
              <a:buNone/>
            </a:pPr>
            <a:r>
              <a:rPr lang="en-US" sz="1100" i="1" dirty="0" err="1">
                <a:solidFill>
                  <a:srgbClr val="3B82F6"/>
                </a:solidFill>
              </a:rPr>
              <a:t>Apynow</a:t>
            </a:r>
            <a:r>
              <a:rPr lang="en-US" sz="1100" i="1" dirty="0">
                <a:solidFill>
                  <a:srgbClr val="3B82F6"/>
                </a:solidFill>
              </a:rPr>
              <a:t> Consulting </a:t>
            </a:r>
            <a:endParaRPr lang="en-US" sz="1100" dirty="0"/>
          </a:p>
        </p:txBody>
      </p:sp>
      <p:sp>
        <p:nvSpPr>
          <p:cNvPr id="8" name="Shape 6"/>
          <p:cNvSpPr/>
          <p:nvPr/>
        </p:nvSpPr>
        <p:spPr>
          <a:xfrm>
            <a:off x="365760" y="2148840"/>
            <a:ext cx="3931920" cy="411480"/>
          </a:xfrm>
          <a:prstGeom prst="rect">
            <a:avLst/>
          </a:prstGeom>
          <a:solidFill>
            <a:srgbClr val="EFF6FF"/>
          </a:solidFill>
          <a:ln w="12700">
            <a:solidFill>
              <a:srgbClr val="93C5FD"/>
            </a:solidFill>
            <a:prstDash val="dash"/>
          </a:ln>
        </p:spPr>
      </p:sp>
      <p:sp>
        <p:nvSpPr>
          <p:cNvPr id="9" name="Text 7"/>
          <p:cNvSpPr/>
          <p:nvPr/>
        </p:nvSpPr>
        <p:spPr>
          <a:xfrm>
            <a:off x="365760" y="2148840"/>
            <a:ext cx="3931920" cy="411480"/>
          </a:xfrm>
          <a:prstGeom prst="rect">
            <a:avLst/>
          </a:prstGeom>
          <a:noFill/>
          <a:ln/>
        </p:spPr>
        <p:txBody>
          <a:bodyPr wrap="square" lIns="76200" tIns="76200" rIns="76200" bIns="76200" rtlCol="0" anchor="ctr"/>
          <a:lstStyle/>
          <a:p>
            <a:pPr marL="0" indent="0" algn="l">
              <a:buNone/>
            </a:pPr>
            <a:r>
              <a:rPr lang="fr-FR" sz="1100" i="1" dirty="0">
                <a:solidFill>
                  <a:srgbClr val="3B82F6"/>
                </a:solidFill>
              </a:rPr>
              <a:t>Autres activités de service informatique</a:t>
            </a:r>
            <a:endParaRPr lang="en-US" sz="1100" dirty="0"/>
          </a:p>
        </p:txBody>
      </p:sp>
      <p:sp>
        <p:nvSpPr>
          <p:cNvPr id="10" name="Shape 8"/>
          <p:cNvSpPr/>
          <p:nvPr/>
        </p:nvSpPr>
        <p:spPr>
          <a:xfrm>
            <a:off x="365760" y="2697480"/>
            <a:ext cx="3931920" cy="411480"/>
          </a:xfrm>
          <a:prstGeom prst="rect">
            <a:avLst/>
          </a:prstGeom>
          <a:solidFill>
            <a:srgbClr val="EFF6FF"/>
          </a:solidFill>
          <a:ln w="12700">
            <a:solidFill>
              <a:srgbClr val="93C5FD"/>
            </a:solidFill>
            <a:prstDash val="dash"/>
          </a:ln>
        </p:spPr>
      </p:sp>
      <p:sp>
        <p:nvSpPr>
          <p:cNvPr id="11" name="Text 9"/>
          <p:cNvSpPr/>
          <p:nvPr/>
        </p:nvSpPr>
        <p:spPr>
          <a:xfrm>
            <a:off x="365760" y="2697480"/>
            <a:ext cx="3931920" cy="411480"/>
          </a:xfrm>
          <a:prstGeom prst="rect">
            <a:avLst/>
          </a:prstGeom>
          <a:noFill/>
          <a:ln/>
        </p:spPr>
        <p:txBody>
          <a:bodyPr wrap="square" lIns="76200" tIns="76200" rIns="76200" bIns="76200" rtlCol="0" anchor="ctr"/>
          <a:lstStyle/>
          <a:p>
            <a:pPr marL="0" indent="0" algn="l">
              <a:buNone/>
            </a:pPr>
            <a:r>
              <a:rPr lang="fr-FR" sz="1100" i="1" dirty="0">
                <a:solidFill>
                  <a:srgbClr val="3B82F6"/>
                </a:solidFill>
              </a:rPr>
              <a:t>SAS, société par actions simplifiée</a:t>
            </a:r>
            <a:endParaRPr lang="en-US" sz="1100" dirty="0"/>
          </a:p>
        </p:txBody>
      </p:sp>
      <p:sp>
        <p:nvSpPr>
          <p:cNvPr id="12" name="Shape 10"/>
          <p:cNvSpPr/>
          <p:nvPr/>
        </p:nvSpPr>
        <p:spPr>
          <a:xfrm>
            <a:off x="365760" y="3246120"/>
            <a:ext cx="3931920" cy="411480"/>
          </a:xfrm>
          <a:prstGeom prst="rect">
            <a:avLst/>
          </a:prstGeom>
          <a:solidFill>
            <a:srgbClr val="EFF6FF"/>
          </a:solidFill>
          <a:ln w="12700">
            <a:solidFill>
              <a:srgbClr val="93C5FD"/>
            </a:solidFill>
            <a:prstDash val="dash"/>
          </a:ln>
        </p:spPr>
      </p:sp>
      <p:sp>
        <p:nvSpPr>
          <p:cNvPr id="13" name="Text 11"/>
          <p:cNvSpPr/>
          <p:nvPr/>
        </p:nvSpPr>
        <p:spPr>
          <a:xfrm>
            <a:off x="365760" y="3246120"/>
            <a:ext cx="3931920" cy="411480"/>
          </a:xfrm>
          <a:prstGeom prst="rect">
            <a:avLst/>
          </a:prstGeom>
          <a:noFill/>
          <a:ln/>
        </p:spPr>
        <p:txBody>
          <a:bodyPr wrap="square" lIns="76200" tIns="76200" rIns="76200" bIns="76200" rtlCol="0" anchor="ctr"/>
          <a:lstStyle/>
          <a:p>
            <a:pPr marL="0" indent="0" algn="l">
              <a:buNone/>
            </a:pPr>
            <a:r>
              <a:rPr lang="fr-FR" sz="1100" i="1" dirty="0">
                <a:solidFill>
                  <a:srgbClr val="3B82F6"/>
                </a:solidFill>
              </a:rPr>
              <a:t>PORTE 7H -  2EME ETAGE 7 AVENUE LOUIS PASTEUR 97300 CAYENNE</a:t>
            </a:r>
            <a:endParaRPr lang="en-US" sz="1100" dirty="0"/>
          </a:p>
        </p:txBody>
      </p:sp>
      <p:sp>
        <p:nvSpPr>
          <p:cNvPr id="14" name="Shape 12"/>
          <p:cNvSpPr/>
          <p:nvPr/>
        </p:nvSpPr>
        <p:spPr>
          <a:xfrm>
            <a:off x="4480560" y="1143000"/>
            <a:ext cx="4297680" cy="45720"/>
          </a:xfrm>
          <a:prstGeom prst="rect">
            <a:avLst/>
          </a:prstGeom>
          <a:solidFill>
            <a:srgbClr val="0891B2"/>
          </a:solidFill>
          <a:ln w="12700">
            <a:solidFill>
              <a:srgbClr val="0891B2"/>
            </a:solidFill>
            <a:prstDash val="solid"/>
          </a:ln>
        </p:spPr>
      </p:sp>
      <p:sp>
        <p:nvSpPr>
          <p:cNvPr id="15" name="Text 13"/>
          <p:cNvSpPr/>
          <p:nvPr/>
        </p:nvSpPr>
        <p:spPr>
          <a:xfrm>
            <a:off x="4480560" y="1234440"/>
            <a:ext cx="4297680" cy="320040"/>
          </a:xfrm>
          <a:prstGeom prst="rect">
            <a:avLst/>
          </a:prstGeom>
          <a:noFill/>
          <a:ln/>
        </p:spPr>
        <p:txBody>
          <a:bodyPr wrap="square" lIns="0" tIns="0" rIns="0" bIns="0" rtlCol="0" anchor="ctr"/>
          <a:lstStyle/>
          <a:p>
            <a:pPr marL="0" indent="0">
              <a:buNone/>
            </a:pPr>
            <a:r>
              <a:rPr lang="en-US" sz="1200" b="1" kern="0" spc="200" dirty="0">
                <a:solidFill>
                  <a:srgbClr val="1A3557"/>
                </a:solidFill>
              </a:rPr>
              <a:t>CONTEXTE DU STAGE</a:t>
            </a:r>
            <a:endParaRPr lang="en-US" sz="1200" dirty="0"/>
          </a:p>
        </p:txBody>
      </p:sp>
      <p:sp>
        <p:nvSpPr>
          <p:cNvPr id="16" name="Shape 14"/>
          <p:cNvSpPr/>
          <p:nvPr/>
        </p:nvSpPr>
        <p:spPr>
          <a:xfrm>
            <a:off x="4480560" y="1600200"/>
            <a:ext cx="4297680" cy="411480"/>
          </a:xfrm>
          <a:prstGeom prst="rect">
            <a:avLst/>
          </a:prstGeom>
          <a:solidFill>
            <a:srgbClr val="EFF6FF"/>
          </a:solidFill>
          <a:ln w="12700">
            <a:solidFill>
              <a:srgbClr val="93C5FD"/>
            </a:solidFill>
            <a:prstDash val="dash"/>
          </a:ln>
        </p:spPr>
        <p:txBody>
          <a:bodyPr/>
          <a:lstStyle/>
          <a:p>
            <a:endParaRPr lang="fr-FR" dirty="0"/>
          </a:p>
        </p:txBody>
      </p:sp>
      <p:sp>
        <p:nvSpPr>
          <p:cNvPr id="17" name="Text 15"/>
          <p:cNvSpPr/>
          <p:nvPr/>
        </p:nvSpPr>
        <p:spPr>
          <a:xfrm>
            <a:off x="4480560" y="1600200"/>
            <a:ext cx="4297680" cy="411480"/>
          </a:xfrm>
          <a:prstGeom prst="rect">
            <a:avLst/>
          </a:prstGeom>
          <a:noFill/>
          <a:ln/>
        </p:spPr>
        <p:txBody>
          <a:bodyPr wrap="square" lIns="76200" tIns="76200" rIns="76200" bIns="76200" rtlCol="0" anchor="ctr"/>
          <a:lstStyle/>
          <a:p>
            <a:pPr marL="0" indent="0" algn="l">
              <a:buNone/>
            </a:pPr>
            <a:r>
              <a:rPr lang="en-US" sz="1100" i="1" dirty="0">
                <a:solidFill>
                  <a:srgbClr val="3B82F6"/>
                </a:solidFill>
              </a:rPr>
              <a:t>M. LEBLANC  Georges-Antoine</a:t>
            </a:r>
            <a:endParaRPr lang="en-US" sz="1100" dirty="0"/>
          </a:p>
        </p:txBody>
      </p:sp>
      <p:sp>
        <p:nvSpPr>
          <p:cNvPr id="20" name="Shape 18"/>
          <p:cNvSpPr/>
          <p:nvPr/>
        </p:nvSpPr>
        <p:spPr>
          <a:xfrm>
            <a:off x="4480560" y="2148838"/>
            <a:ext cx="4297680" cy="411481"/>
          </a:xfrm>
          <a:prstGeom prst="rect">
            <a:avLst/>
          </a:prstGeom>
          <a:solidFill>
            <a:srgbClr val="EFF6FF"/>
          </a:solidFill>
          <a:ln w="12700">
            <a:solidFill>
              <a:srgbClr val="93C5FD"/>
            </a:solidFill>
            <a:prstDash val="dash"/>
          </a:ln>
        </p:spPr>
      </p:sp>
      <p:sp>
        <p:nvSpPr>
          <p:cNvPr id="21" name="Text 19"/>
          <p:cNvSpPr/>
          <p:nvPr/>
        </p:nvSpPr>
        <p:spPr>
          <a:xfrm>
            <a:off x="4480560" y="2148839"/>
            <a:ext cx="4297680" cy="382905"/>
          </a:xfrm>
          <a:prstGeom prst="rect">
            <a:avLst/>
          </a:prstGeom>
          <a:noFill/>
          <a:ln/>
        </p:spPr>
        <p:txBody>
          <a:bodyPr wrap="square" lIns="101600" tIns="101600" rIns="101600" bIns="101600" rtlCol="0" anchor="t"/>
          <a:lstStyle/>
          <a:p>
            <a:pPr>
              <a:buSzPct val="100000"/>
            </a:pPr>
            <a:r>
              <a:rPr lang="en-US" sz="1100" i="1" dirty="0">
                <a:solidFill>
                  <a:srgbClr val="3B82F6"/>
                </a:solidFill>
              </a:rPr>
              <a:t>Creation de sites web, dashboards, sites vitrines, applications… pour d’autres </a:t>
            </a:r>
            <a:r>
              <a:rPr lang="fr-FR" sz="1100" i="1" dirty="0">
                <a:solidFill>
                  <a:srgbClr val="3B82F6"/>
                </a:solidFill>
              </a:rPr>
              <a:t>entreprises</a:t>
            </a:r>
            <a:endParaRPr lang="fr-FR" sz="1100" dirty="0"/>
          </a:p>
        </p:txBody>
      </p:sp>
      <p:sp>
        <p:nvSpPr>
          <p:cNvPr id="22" name="Shape 20"/>
          <p:cNvSpPr/>
          <p:nvPr/>
        </p:nvSpPr>
        <p:spPr>
          <a:xfrm>
            <a:off x="4251960" y="1005840"/>
            <a:ext cx="36576" cy="3657600"/>
          </a:xfrm>
          <a:prstGeom prst="rect">
            <a:avLst/>
          </a:prstGeom>
          <a:solidFill>
            <a:srgbClr val="E2E8F0"/>
          </a:solidFill>
          <a:ln w="12700">
            <a:solidFill>
              <a:srgbClr val="E2E8F0"/>
            </a:solidFill>
            <a:prstDash val="solid"/>
          </a:ln>
        </p:spPr>
      </p:sp>
      <p:sp>
        <p:nvSpPr>
          <p:cNvPr id="23" name="Shape 21"/>
          <p:cNvSpPr/>
          <p:nvPr/>
        </p:nvSpPr>
        <p:spPr>
          <a:xfrm>
            <a:off x="0" y="4937760"/>
            <a:ext cx="9144000" cy="205740"/>
          </a:xfrm>
          <a:prstGeom prst="rect">
            <a:avLst/>
          </a:prstGeom>
          <a:solidFill>
            <a:srgbClr val="1A3557"/>
          </a:solidFill>
          <a:ln w="12700">
            <a:solidFill>
              <a:srgbClr val="1A3557"/>
            </a:solidFill>
            <a:prstDash val="solid"/>
          </a:ln>
        </p:spPr>
      </p:sp>
      <p:sp>
        <p:nvSpPr>
          <p:cNvPr id="24" name="Text 22"/>
          <p:cNvSpPr/>
          <p:nvPr/>
        </p:nvSpPr>
        <p:spPr>
          <a:xfrm>
            <a:off x="274320" y="4956048"/>
            <a:ext cx="8595360" cy="164592"/>
          </a:xfrm>
          <a:prstGeom prst="rect">
            <a:avLst/>
          </a:prstGeom>
          <a:noFill/>
          <a:ln/>
        </p:spPr>
        <p:txBody>
          <a:bodyPr wrap="square" rtlCol="0" anchor="ctr"/>
          <a:lstStyle/>
          <a:p>
            <a:pPr marL="0" indent="0" algn="r">
              <a:buNone/>
            </a:pPr>
            <a:r>
              <a:rPr lang="en-US" sz="900" dirty="0">
                <a:solidFill>
                  <a:srgbClr val="93C5FD"/>
                </a:solidFill>
              </a:rPr>
              <a:t>Rapport de stage</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1F5F9"/>
        </a:solidFill>
        <a:effectLst/>
      </p:bgPr>
    </p:bg>
    <p:spTree>
      <p:nvGrpSpPr>
        <p:cNvPr id="1" name=""/>
        <p:cNvGrpSpPr/>
        <p:nvPr/>
      </p:nvGrpSpPr>
      <p:grpSpPr>
        <a:xfrm>
          <a:off x="0" y="0"/>
          <a:ext cx="0" cy="0"/>
          <a:chOff x="0" y="0"/>
          <a:chExt cx="0" cy="0"/>
        </a:xfrm>
      </p:grpSpPr>
      <p:sp>
        <p:nvSpPr>
          <p:cNvPr id="2" name="Shape 0"/>
          <p:cNvSpPr/>
          <p:nvPr/>
        </p:nvSpPr>
        <p:spPr>
          <a:xfrm>
            <a:off x="0" y="0"/>
            <a:ext cx="9144000" cy="1005840"/>
          </a:xfrm>
          <a:prstGeom prst="rect">
            <a:avLst/>
          </a:prstGeom>
          <a:solidFill>
            <a:srgbClr val="0891B2"/>
          </a:solidFill>
          <a:ln w="12700">
            <a:solidFill>
              <a:srgbClr val="0891B2"/>
            </a:solidFill>
            <a:prstDash val="solid"/>
          </a:ln>
        </p:spPr>
      </p:sp>
      <p:sp>
        <p:nvSpPr>
          <p:cNvPr id="3" name="Text 1"/>
          <p:cNvSpPr/>
          <p:nvPr/>
        </p:nvSpPr>
        <p:spPr>
          <a:xfrm>
            <a:off x="457200" y="228600"/>
            <a:ext cx="8229600" cy="548640"/>
          </a:xfrm>
          <a:prstGeom prst="rect">
            <a:avLst/>
          </a:prstGeom>
          <a:noFill/>
          <a:ln/>
        </p:spPr>
        <p:txBody>
          <a:bodyPr wrap="square" rtlCol="0" anchor="ctr"/>
          <a:lstStyle/>
          <a:p>
            <a:pPr marL="0" indent="0">
              <a:buNone/>
            </a:pPr>
            <a:r>
              <a:rPr lang="en-US" sz="2200" b="1" kern="0" spc="100" dirty="0">
                <a:solidFill>
                  <a:srgbClr val="FFFFFF"/>
                </a:solidFill>
              </a:rPr>
              <a:t>02  |  MISSIONS ET ACTIVITÉS RÉALISÉES</a:t>
            </a:r>
            <a:endParaRPr lang="en-US" sz="2200" dirty="0"/>
          </a:p>
        </p:txBody>
      </p:sp>
      <p:sp>
        <p:nvSpPr>
          <p:cNvPr id="4" name="Shape 2"/>
          <p:cNvSpPr/>
          <p:nvPr/>
        </p:nvSpPr>
        <p:spPr>
          <a:xfrm>
            <a:off x="274320" y="1097280"/>
            <a:ext cx="2743200" cy="3657600"/>
          </a:xfrm>
          <a:prstGeom prst="rect">
            <a:avLst/>
          </a:prstGeom>
          <a:solidFill>
            <a:srgbClr val="FFFFFF"/>
          </a:solidFill>
          <a:ln w="12700">
            <a:solidFill>
              <a:srgbClr val="E2E8F0"/>
            </a:solidFill>
            <a:prstDash val="solid"/>
          </a:ln>
        </p:spPr>
      </p:sp>
      <p:sp>
        <p:nvSpPr>
          <p:cNvPr id="5" name="Shape 3"/>
          <p:cNvSpPr/>
          <p:nvPr/>
        </p:nvSpPr>
        <p:spPr>
          <a:xfrm>
            <a:off x="274320" y="1097280"/>
            <a:ext cx="2743200" cy="457200"/>
          </a:xfrm>
          <a:prstGeom prst="rect">
            <a:avLst/>
          </a:prstGeom>
          <a:solidFill>
            <a:srgbClr val="1A3557"/>
          </a:solidFill>
          <a:ln w="12700">
            <a:solidFill>
              <a:srgbClr val="1A3557"/>
            </a:solidFill>
            <a:prstDash val="solid"/>
          </a:ln>
        </p:spPr>
      </p:sp>
      <p:sp>
        <p:nvSpPr>
          <p:cNvPr id="6" name="Text 4"/>
          <p:cNvSpPr/>
          <p:nvPr/>
        </p:nvSpPr>
        <p:spPr>
          <a:xfrm>
            <a:off x="274320" y="1097280"/>
            <a:ext cx="2743200" cy="457200"/>
          </a:xfrm>
          <a:prstGeom prst="rect">
            <a:avLst/>
          </a:prstGeom>
          <a:noFill/>
          <a:ln/>
        </p:spPr>
        <p:txBody>
          <a:bodyPr wrap="square" rtlCol="0" anchor="ctr"/>
          <a:lstStyle/>
          <a:p>
            <a:pPr marL="0" indent="0" algn="ctr">
              <a:buNone/>
            </a:pPr>
            <a:r>
              <a:rPr lang="en-US" sz="1300" b="1" dirty="0">
                <a:solidFill>
                  <a:srgbClr val="FFFFFF"/>
                </a:solidFill>
              </a:rPr>
              <a:t>MISSION 1</a:t>
            </a:r>
            <a:endParaRPr lang="en-US" sz="1300" dirty="0"/>
          </a:p>
        </p:txBody>
      </p:sp>
      <p:sp>
        <p:nvSpPr>
          <p:cNvPr id="7" name="Shape 5"/>
          <p:cNvSpPr/>
          <p:nvPr/>
        </p:nvSpPr>
        <p:spPr>
          <a:xfrm>
            <a:off x="411480" y="1645920"/>
            <a:ext cx="2468880" cy="411480"/>
          </a:xfrm>
          <a:prstGeom prst="rect">
            <a:avLst/>
          </a:prstGeom>
          <a:solidFill>
            <a:srgbClr val="EFF6FF"/>
          </a:solidFill>
          <a:ln w="12700">
            <a:solidFill>
              <a:srgbClr val="93C5FD"/>
            </a:solidFill>
            <a:prstDash val="dash"/>
          </a:ln>
        </p:spPr>
        <p:txBody>
          <a:bodyPr/>
          <a:lstStyle/>
          <a:p>
            <a:endParaRPr lang="fr-FR" dirty="0"/>
          </a:p>
        </p:txBody>
      </p:sp>
      <p:sp>
        <p:nvSpPr>
          <p:cNvPr id="8" name="Text 6"/>
          <p:cNvSpPr/>
          <p:nvPr/>
        </p:nvSpPr>
        <p:spPr>
          <a:xfrm>
            <a:off x="411480" y="1645920"/>
            <a:ext cx="2468880" cy="411480"/>
          </a:xfrm>
          <a:prstGeom prst="rect">
            <a:avLst/>
          </a:prstGeom>
          <a:noFill/>
          <a:ln/>
        </p:spPr>
        <p:txBody>
          <a:bodyPr wrap="square" lIns="76200" tIns="76200" rIns="76200" bIns="76200" rtlCol="0" anchor="ctr"/>
          <a:lstStyle/>
          <a:p>
            <a:pPr marL="0" indent="0" algn="l">
              <a:buNone/>
            </a:pPr>
            <a:r>
              <a:rPr lang="en-US" sz="1100" i="1" dirty="0">
                <a:solidFill>
                  <a:srgbClr val="3B82F6"/>
                </a:solidFill>
              </a:rPr>
              <a:t>Brainstorming</a:t>
            </a:r>
            <a:endParaRPr lang="en-US" sz="1100" dirty="0"/>
          </a:p>
        </p:txBody>
      </p:sp>
      <p:sp>
        <p:nvSpPr>
          <p:cNvPr id="9" name="Text 7"/>
          <p:cNvSpPr/>
          <p:nvPr/>
        </p:nvSpPr>
        <p:spPr>
          <a:xfrm>
            <a:off x="411480" y="2148840"/>
            <a:ext cx="2468880" cy="274320"/>
          </a:xfrm>
          <a:prstGeom prst="rect">
            <a:avLst/>
          </a:prstGeom>
          <a:noFill/>
          <a:ln/>
        </p:spPr>
        <p:txBody>
          <a:bodyPr wrap="square" rtlCol="0" anchor="ctr"/>
          <a:lstStyle/>
          <a:p>
            <a:pPr marL="0" indent="0">
              <a:buNone/>
            </a:pPr>
            <a:r>
              <a:rPr lang="en-US" sz="1000" b="1" dirty="0">
                <a:solidFill>
                  <a:srgbClr val="64748B"/>
                </a:solidFill>
              </a:rPr>
              <a:t>Description :</a:t>
            </a:r>
            <a:endParaRPr lang="en-US" sz="1000" dirty="0"/>
          </a:p>
        </p:txBody>
      </p:sp>
      <p:sp>
        <p:nvSpPr>
          <p:cNvPr id="10" name="Shape 8"/>
          <p:cNvSpPr/>
          <p:nvPr/>
        </p:nvSpPr>
        <p:spPr>
          <a:xfrm>
            <a:off x="411480" y="2423160"/>
            <a:ext cx="2468880" cy="1371600"/>
          </a:xfrm>
          <a:prstGeom prst="rect">
            <a:avLst/>
          </a:prstGeom>
          <a:solidFill>
            <a:srgbClr val="EFF6FF"/>
          </a:solidFill>
          <a:ln w="12700">
            <a:solidFill>
              <a:srgbClr val="93C5FD"/>
            </a:solidFill>
            <a:prstDash val="dash"/>
          </a:ln>
        </p:spPr>
      </p:sp>
      <p:sp>
        <p:nvSpPr>
          <p:cNvPr id="11" name="Text 9"/>
          <p:cNvSpPr/>
          <p:nvPr/>
        </p:nvSpPr>
        <p:spPr>
          <a:xfrm>
            <a:off x="411480" y="2423160"/>
            <a:ext cx="2468880" cy="1371600"/>
          </a:xfrm>
          <a:prstGeom prst="rect">
            <a:avLst/>
          </a:prstGeom>
          <a:noFill/>
          <a:ln/>
        </p:spPr>
        <p:txBody>
          <a:bodyPr wrap="square" lIns="101600" tIns="101600" rIns="101600" bIns="101600" rtlCol="0" anchor="t"/>
          <a:lstStyle/>
          <a:p>
            <a:pPr marL="342900" indent="-342900">
              <a:buSzPct val="100000"/>
              <a:buChar char="•"/>
            </a:pPr>
            <a:r>
              <a:rPr lang="en-US" sz="1100" i="1" dirty="0" err="1">
                <a:solidFill>
                  <a:srgbClr val="3B82F6"/>
                </a:solidFill>
              </a:rPr>
              <a:t>Trouver</a:t>
            </a:r>
            <a:r>
              <a:rPr lang="en-US" sz="1100" i="1" dirty="0">
                <a:solidFill>
                  <a:srgbClr val="3B82F6"/>
                </a:solidFill>
              </a:rPr>
              <a:t> un design pour le site </a:t>
            </a:r>
            <a:endParaRPr lang="en-US" sz="1100" dirty="0"/>
          </a:p>
          <a:p>
            <a:pPr marL="342900" indent="-342900">
              <a:buSzPct val="100000"/>
              <a:buChar char="•"/>
            </a:pPr>
            <a:r>
              <a:rPr lang="en-US" sz="1100" i="1" dirty="0">
                <a:solidFill>
                  <a:srgbClr val="3B82F6"/>
                </a:solidFill>
              </a:rPr>
              <a:t>Canva, GAMMA</a:t>
            </a:r>
            <a:endParaRPr lang="en-US" sz="1100" dirty="0"/>
          </a:p>
          <a:p>
            <a:pPr marL="342900" indent="-342900">
              <a:buSzPct val="100000"/>
              <a:buChar char="•"/>
            </a:pPr>
            <a:r>
              <a:rPr lang="en-US" sz="1100" i="1" dirty="0">
                <a:solidFill>
                  <a:srgbClr val="3B82F6"/>
                </a:solidFill>
              </a:rPr>
              <a:t>Résultat obtenu...</a:t>
            </a:r>
            <a:endParaRPr lang="en-US" sz="1100" dirty="0"/>
          </a:p>
        </p:txBody>
      </p:sp>
      <p:sp>
        <p:nvSpPr>
          <p:cNvPr id="12" name="Text 10"/>
          <p:cNvSpPr/>
          <p:nvPr/>
        </p:nvSpPr>
        <p:spPr>
          <a:xfrm>
            <a:off x="411480" y="3886200"/>
            <a:ext cx="822960" cy="274320"/>
          </a:xfrm>
          <a:prstGeom prst="rect">
            <a:avLst/>
          </a:prstGeom>
          <a:noFill/>
          <a:ln/>
        </p:spPr>
        <p:txBody>
          <a:bodyPr wrap="square" rtlCol="0" anchor="ctr"/>
          <a:lstStyle/>
          <a:p>
            <a:pPr marL="0" indent="0">
              <a:buNone/>
            </a:pPr>
            <a:r>
              <a:rPr lang="en-US" sz="1000" b="1" dirty="0">
                <a:solidFill>
                  <a:srgbClr val="64748B"/>
                </a:solidFill>
              </a:rPr>
              <a:t>Durée :</a:t>
            </a:r>
            <a:endParaRPr lang="en-US" sz="1000" dirty="0"/>
          </a:p>
        </p:txBody>
      </p:sp>
      <p:sp>
        <p:nvSpPr>
          <p:cNvPr id="13" name="Shape 11"/>
          <p:cNvSpPr/>
          <p:nvPr/>
        </p:nvSpPr>
        <p:spPr>
          <a:xfrm>
            <a:off x="1234440" y="3886200"/>
            <a:ext cx="1645920" cy="274320"/>
          </a:xfrm>
          <a:prstGeom prst="rect">
            <a:avLst/>
          </a:prstGeom>
          <a:solidFill>
            <a:srgbClr val="EFF6FF"/>
          </a:solidFill>
          <a:ln w="12700">
            <a:solidFill>
              <a:srgbClr val="93C5FD"/>
            </a:solidFill>
            <a:prstDash val="dash"/>
          </a:ln>
        </p:spPr>
      </p:sp>
      <p:sp>
        <p:nvSpPr>
          <p:cNvPr id="14" name="Text 12"/>
          <p:cNvSpPr/>
          <p:nvPr/>
        </p:nvSpPr>
        <p:spPr>
          <a:xfrm>
            <a:off x="1234440" y="3886200"/>
            <a:ext cx="1645920" cy="274320"/>
          </a:xfrm>
          <a:prstGeom prst="rect">
            <a:avLst/>
          </a:prstGeom>
          <a:noFill/>
          <a:ln/>
        </p:spPr>
        <p:txBody>
          <a:bodyPr wrap="square" lIns="76200" tIns="76200" rIns="76200" bIns="76200" rtlCol="0" anchor="ctr"/>
          <a:lstStyle/>
          <a:p>
            <a:pPr marL="0" indent="0" algn="l">
              <a:buNone/>
            </a:pPr>
            <a:r>
              <a:rPr lang="en-US" sz="1100" i="1" dirty="0">
                <a:solidFill>
                  <a:srgbClr val="3B82F6"/>
                </a:solidFill>
              </a:rPr>
              <a:t>03 jours</a:t>
            </a:r>
            <a:endParaRPr lang="en-US" sz="1100" dirty="0"/>
          </a:p>
        </p:txBody>
      </p:sp>
      <p:sp>
        <p:nvSpPr>
          <p:cNvPr id="15" name="Shape 13"/>
          <p:cNvSpPr/>
          <p:nvPr/>
        </p:nvSpPr>
        <p:spPr>
          <a:xfrm>
            <a:off x="274320" y="4297680"/>
            <a:ext cx="2743200" cy="36576"/>
          </a:xfrm>
          <a:prstGeom prst="rect">
            <a:avLst/>
          </a:prstGeom>
          <a:solidFill>
            <a:srgbClr val="F59E0B"/>
          </a:solidFill>
          <a:ln w="12700">
            <a:solidFill>
              <a:srgbClr val="F59E0B"/>
            </a:solidFill>
            <a:prstDash val="solid"/>
          </a:ln>
        </p:spPr>
      </p:sp>
      <p:sp>
        <p:nvSpPr>
          <p:cNvPr id="16" name="Shape 14"/>
          <p:cNvSpPr/>
          <p:nvPr/>
        </p:nvSpPr>
        <p:spPr>
          <a:xfrm>
            <a:off x="3246120" y="1097280"/>
            <a:ext cx="2743200" cy="3657600"/>
          </a:xfrm>
          <a:prstGeom prst="rect">
            <a:avLst/>
          </a:prstGeom>
          <a:solidFill>
            <a:srgbClr val="FFFFFF"/>
          </a:solidFill>
          <a:ln w="12700">
            <a:solidFill>
              <a:srgbClr val="E2E8F0"/>
            </a:solidFill>
            <a:prstDash val="solid"/>
          </a:ln>
        </p:spPr>
      </p:sp>
      <p:sp>
        <p:nvSpPr>
          <p:cNvPr id="17" name="Shape 15"/>
          <p:cNvSpPr/>
          <p:nvPr/>
        </p:nvSpPr>
        <p:spPr>
          <a:xfrm>
            <a:off x="3246120" y="1097280"/>
            <a:ext cx="2743200" cy="457200"/>
          </a:xfrm>
          <a:prstGeom prst="rect">
            <a:avLst/>
          </a:prstGeom>
          <a:solidFill>
            <a:srgbClr val="1A3557"/>
          </a:solidFill>
          <a:ln w="12700">
            <a:solidFill>
              <a:srgbClr val="1A3557"/>
            </a:solidFill>
            <a:prstDash val="solid"/>
          </a:ln>
        </p:spPr>
      </p:sp>
      <p:sp>
        <p:nvSpPr>
          <p:cNvPr id="18" name="Text 16"/>
          <p:cNvSpPr/>
          <p:nvPr/>
        </p:nvSpPr>
        <p:spPr>
          <a:xfrm>
            <a:off x="3246120" y="1097280"/>
            <a:ext cx="2743200" cy="457200"/>
          </a:xfrm>
          <a:prstGeom prst="rect">
            <a:avLst/>
          </a:prstGeom>
          <a:noFill/>
          <a:ln/>
        </p:spPr>
        <p:txBody>
          <a:bodyPr wrap="square" rtlCol="0" anchor="ctr"/>
          <a:lstStyle/>
          <a:p>
            <a:pPr marL="0" indent="0" algn="ctr">
              <a:buNone/>
            </a:pPr>
            <a:r>
              <a:rPr lang="en-US" sz="1300" b="1" dirty="0">
                <a:solidFill>
                  <a:srgbClr val="FFFFFF"/>
                </a:solidFill>
              </a:rPr>
              <a:t>MISSION 2</a:t>
            </a:r>
            <a:endParaRPr lang="en-US" sz="1300" dirty="0"/>
          </a:p>
        </p:txBody>
      </p:sp>
      <p:sp>
        <p:nvSpPr>
          <p:cNvPr id="19" name="Shape 17"/>
          <p:cNvSpPr/>
          <p:nvPr/>
        </p:nvSpPr>
        <p:spPr>
          <a:xfrm>
            <a:off x="3383280" y="1645920"/>
            <a:ext cx="2468880" cy="411480"/>
          </a:xfrm>
          <a:prstGeom prst="rect">
            <a:avLst/>
          </a:prstGeom>
          <a:solidFill>
            <a:srgbClr val="EFF6FF"/>
          </a:solidFill>
          <a:ln w="12700">
            <a:solidFill>
              <a:srgbClr val="93C5FD"/>
            </a:solidFill>
            <a:prstDash val="dash"/>
          </a:ln>
        </p:spPr>
      </p:sp>
      <p:sp>
        <p:nvSpPr>
          <p:cNvPr id="20" name="Text 18"/>
          <p:cNvSpPr/>
          <p:nvPr/>
        </p:nvSpPr>
        <p:spPr>
          <a:xfrm>
            <a:off x="3383280" y="1645920"/>
            <a:ext cx="2468880" cy="411480"/>
          </a:xfrm>
          <a:prstGeom prst="rect">
            <a:avLst/>
          </a:prstGeom>
          <a:noFill/>
          <a:ln/>
        </p:spPr>
        <p:txBody>
          <a:bodyPr wrap="square" lIns="76200" tIns="76200" rIns="76200" bIns="76200" rtlCol="0" anchor="ctr"/>
          <a:lstStyle/>
          <a:p>
            <a:pPr marL="0" indent="0" algn="l">
              <a:buNone/>
            </a:pPr>
            <a:r>
              <a:rPr lang="en-US" sz="1100" i="1" dirty="0" err="1">
                <a:solidFill>
                  <a:srgbClr val="3B82F6"/>
                </a:solidFill>
              </a:rPr>
              <a:t>Réalisation</a:t>
            </a:r>
            <a:r>
              <a:rPr lang="en-US" sz="1100" i="1" dirty="0">
                <a:solidFill>
                  <a:srgbClr val="3B82F6"/>
                </a:solidFill>
              </a:rPr>
              <a:t> du site </a:t>
            </a:r>
            <a:endParaRPr lang="en-US" sz="1100" dirty="0"/>
          </a:p>
        </p:txBody>
      </p:sp>
      <p:sp>
        <p:nvSpPr>
          <p:cNvPr id="21" name="Text 19"/>
          <p:cNvSpPr/>
          <p:nvPr/>
        </p:nvSpPr>
        <p:spPr>
          <a:xfrm>
            <a:off x="3383280" y="2148840"/>
            <a:ext cx="2468880" cy="274320"/>
          </a:xfrm>
          <a:prstGeom prst="rect">
            <a:avLst/>
          </a:prstGeom>
          <a:noFill/>
          <a:ln/>
        </p:spPr>
        <p:txBody>
          <a:bodyPr wrap="square" rtlCol="0" anchor="ctr"/>
          <a:lstStyle/>
          <a:p>
            <a:pPr marL="0" indent="0">
              <a:buNone/>
            </a:pPr>
            <a:r>
              <a:rPr lang="en-US" sz="1000" b="1" dirty="0">
                <a:solidFill>
                  <a:srgbClr val="64748B"/>
                </a:solidFill>
              </a:rPr>
              <a:t>Description :</a:t>
            </a:r>
            <a:endParaRPr lang="en-US" sz="1000" dirty="0"/>
          </a:p>
        </p:txBody>
      </p:sp>
      <p:sp>
        <p:nvSpPr>
          <p:cNvPr id="22" name="Shape 20"/>
          <p:cNvSpPr/>
          <p:nvPr/>
        </p:nvSpPr>
        <p:spPr>
          <a:xfrm>
            <a:off x="3383280" y="2423160"/>
            <a:ext cx="2468880" cy="1371600"/>
          </a:xfrm>
          <a:prstGeom prst="rect">
            <a:avLst/>
          </a:prstGeom>
          <a:solidFill>
            <a:srgbClr val="EFF6FF"/>
          </a:solidFill>
          <a:ln w="12700">
            <a:solidFill>
              <a:srgbClr val="93C5FD"/>
            </a:solidFill>
            <a:prstDash val="dash"/>
          </a:ln>
        </p:spPr>
      </p:sp>
      <p:sp>
        <p:nvSpPr>
          <p:cNvPr id="23" name="Text 21"/>
          <p:cNvSpPr/>
          <p:nvPr/>
        </p:nvSpPr>
        <p:spPr>
          <a:xfrm>
            <a:off x="3383280" y="2423160"/>
            <a:ext cx="2468880" cy="1371600"/>
          </a:xfrm>
          <a:prstGeom prst="rect">
            <a:avLst/>
          </a:prstGeom>
          <a:noFill/>
          <a:ln/>
        </p:spPr>
        <p:txBody>
          <a:bodyPr wrap="square" lIns="101600" tIns="101600" rIns="101600" bIns="101600" rtlCol="0" anchor="t"/>
          <a:lstStyle/>
          <a:p>
            <a:pPr marL="342900" indent="-342900">
              <a:buSzPct val="100000"/>
              <a:buChar char="•"/>
            </a:pPr>
            <a:r>
              <a:rPr lang="en-US" sz="1100" i="1" dirty="0" err="1">
                <a:solidFill>
                  <a:srgbClr val="3B82F6"/>
                </a:solidFill>
              </a:rPr>
              <a:t>Création</a:t>
            </a:r>
            <a:r>
              <a:rPr lang="en-US" sz="1100" i="1" dirty="0">
                <a:solidFill>
                  <a:srgbClr val="3B82F6"/>
                </a:solidFill>
              </a:rPr>
              <a:t> de </a:t>
            </a:r>
            <a:r>
              <a:rPr lang="en-US" sz="1100" i="1" dirty="0" err="1">
                <a:solidFill>
                  <a:srgbClr val="3B82F6"/>
                </a:solidFill>
              </a:rPr>
              <a:t>l’interface</a:t>
            </a:r>
            <a:r>
              <a:rPr lang="en-US" sz="1100" i="1" dirty="0">
                <a:solidFill>
                  <a:srgbClr val="3B82F6"/>
                </a:solidFill>
              </a:rPr>
              <a:t> du site </a:t>
            </a:r>
            <a:endParaRPr lang="en-US" sz="1100" dirty="0"/>
          </a:p>
          <a:p>
            <a:pPr marL="342900" indent="-342900">
              <a:buSzPct val="100000"/>
              <a:buChar char="•"/>
            </a:pPr>
            <a:r>
              <a:rPr lang="en-US" sz="1100" i="1" dirty="0" err="1">
                <a:solidFill>
                  <a:srgbClr val="3B82F6"/>
                </a:solidFill>
              </a:rPr>
              <a:t>VSCode</a:t>
            </a:r>
            <a:r>
              <a:rPr lang="en-US" sz="1100" i="1" dirty="0">
                <a:solidFill>
                  <a:srgbClr val="3B82F6"/>
                </a:solidFill>
              </a:rPr>
              <a:t>/WAMP-SERVER</a:t>
            </a:r>
            <a:endParaRPr lang="en-US" sz="1100" dirty="0"/>
          </a:p>
          <a:p>
            <a:pPr marL="342900" indent="-342900">
              <a:buSzPct val="100000"/>
              <a:buChar char="•"/>
            </a:pPr>
            <a:r>
              <a:rPr lang="en-US" sz="1100" i="1" dirty="0">
                <a:solidFill>
                  <a:srgbClr val="3B82F6"/>
                </a:solidFill>
              </a:rPr>
              <a:t>Résultat obtenu...</a:t>
            </a:r>
            <a:endParaRPr lang="en-US" sz="1100" dirty="0"/>
          </a:p>
        </p:txBody>
      </p:sp>
      <p:sp>
        <p:nvSpPr>
          <p:cNvPr id="24" name="Text 22"/>
          <p:cNvSpPr/>
          <p:nvPr/>
        </p:nvSpPr>
        <p:spPr>
          <a:xfrm>
            <a:off x="3383280" y="3886200"/>
            <a:ext cx="822960" cy="274320"/>
          </a:xfrm>
          <a:prstGeom prst="rect">
            <a:avLst/>
          </a:prstGeom>
          <a:noFill/>
          <a:ln/>
        </p:spPr>
        <p:txBody>
          <a:bodyPr wrap="square" rtlCol="0" anchor="ctr"/>
          <a:lstStyle/>
          <a:p>
            <a:pPr marL="0" indent="0">
              <a:buNone/>
            </a:pPr>
            <a:r>
              <a:rPr lang="en-US" sz="1000" b="1" dirty="0">
                <a:solidFill>
                  <a:srgbClr val="64748B"/>
                </a:solidFill>
              </a:rPr>
              <a:t>Durée :</a:t>
            </a:r>
            <a:endParaRPr lang="en-US" sz="1000" dirty="0"/>
          </a:p>
        </p:txBody>
      </p:sp>
      <p:sp>
        <p:nvSpPr>
          <p:cNvPr id="25" name="Shape 23"/>
          <p:cNvSpPr/>
          <p:nvPr/>
        </p:nvSpPr>
        <p:spPr>
          <a:xfrm>
            <a:off x="4206240" y="3886200"/>
            <a:ext cx="1645920" cy="274320"/>
          </a:xfrm>
          <a:prstGeom prst="rect">
            <a:avLst/>
          </a:prstGeom>
          <a:solidFill>
            <a:srgbClr val="EFF6FF"/>
          </a:solidFill>
          <a:ln w="12700">
            <a:solidFill>
              <a:srgbClr val="93C5FD"/>
            </a:solidFill>
            <a:prstDash val="dash"/>
          </a:ln>
        </p:spPr>
      </p:sp>
      <p:sp>
        <p:nvSpPr>
          <p:cNvPr id="26" name="Text 24"/>
          <p:cNvSpPr/>
          <p:nvPr/>
        </p:nvSpPr>
        <p:spPr>
          <a:xfrm>
            <a:off x="4206240" y="3886200"/>
            <a:ext cx="1645920" cy="274320"/>
          </a:xfrm>
          <a:prstGeom prst="rect">
            <a:avLst/>
          </a:prstGeom>
          <a:noFill/>
          <a:ln/>
        </p:spPr>
        <p:txBody>
          <a:bodyPr wrap="square" lIns="76200" tIns="76200" rIns="76200" bIns="76200" rtlCol="0" anchor="ctr"/>
          <a:lstStyle/>
          <a:p>
            <a:pPr marL="0" indent="0" algn="l">
              <a:buNone/>
            </a:pPr>
            <a:r>
              <a:rPr lang="en-US" sz="1100" i="1" dirty="0">
                <a:solidFill>
                  <a:srgbClr val="3B82F6"/>
                </a:solidFill>
              </a:rPr>
              <a:t>4 </a:t>
            </a:r>
            <a:r>
              <a:rPr lang="en-US" sz="1100" i="1" dirty="0" err="1">
                <a:solidFill>
                  <a:srgbClr val="3B82F6"/>
                </a:solidFill>
              </a:rPr>
              <a:t>semaines</a:t>
            </a:r>
            <a:endParaRPr lang="en-US" sz="1100" dirty="0"/>
          </a:p>
        </p:txBody>
      </p:sp>
      <p:sp>
        <p:nvSpPr>
          <p:cNvPr id="27" name="Shape 25"/>
          <p:cNvSpPr/>
          <p:nvPr/>
        </p:nvSpPr>
        <p:spPr>
          <a:xfrm>
            <a:off x="3246120" y="4297680"/>
            <a:ext cx="2743200" cy="36576"/>
          </a:xfrm>
          <a:prstGeom prst="rect">
            <a:avLst/>
          </a:prstGeom>
          <a:solidFill>
            <a:srgbClr val="F59E0B"/>
          </a:solidFill>
          <a:ln w="12700">
            <a:solidFill>
              <a:srgbClr val="F59E0B"/>
            </a:solidFill>
            <a:prstDash val="solid"/>
          </a:ln>
        </p:spPr>
      </p:sp>
      <p:sp>
        <p:nvSpPr>
          <p:cNvPr id="28" name="Shape 26"/>
          <p:cNvSpPr/>
          <p:nvPr/>
        </p:nvSpPr>
        <p:spPr>
          <a:xfrm>
            <a:off x="6217920" y="1097280"/>
            <a:ext cx="2743200" cy="3657600"/>
          </a:xfrm>
          <a:prstGeom prst="rect">
            <a:avLst/>
          </a:prstGeom>
          <a:solidFill>
            <a:srgbClr val="FFFFFF"/>
          </a:solidFill>
          <a:ln w="12700">
            <a:solidFill>
              <a:srgbClr val="E2E8F0"/>
            </a:solidFill>
            <a:prstDash val="solid"/>
          </a:ln>
        </p:spPr>
      </p:sp>
      <p:sp>
        <p:nvSpPr>
          <p:cNvPr id="29" name="Shape 27"/>
          <p:cNvSpPr/>
          <p:nvPr/>
        </p:nvSpPr>
        <p:spPr>
          <a:xfrm>
            <a:off x="6217920" y="1097280"/>
            <a:ext cx="2743200" cy="457200"/>
          </a:xfrm>
          <a:prstGeom prst="rect">
            <a:avLst/>
          </a:prstGeom>
          <a:solidFill>
            <a:srgbClr val="1A3557"/>
          </a:solidFill>
          <a:ln w="12700">
            <a:solidFill>
              <a:srgbClr val="1A3557"/>
            </a:solidFill>
            <a:prstDash val="solid"/>
          </a:ln>
        </p:spPr>
      </p:sp>
      <p:sp>
        <p:nvSpPr>
          <p:cNvPr id="30" name="Text 28"/>
          <p:cNvSpPr/>
          <p:nvPr/>
        </p:nvSpPr>
        <p:spPr>
          <a:xfrm>
            <a:off x="6217920" y="1097280"/>
            <a:ext cx="2743200" cy="457200"/>
          </a:xfrm>
          <a:prstGeom prst="rect">
            <a:avLst/>
          </a:prstGeom>
          <a:noFill/>
          <a:ln/>
        </p:spPr>
        <p:txBody>
          <a:bodyPr wrap="square" rtlCol="0" anchor="ctr"/>
          <a:lstStyle/>
          <a:p>
            <a:pPr marL="0" indent="0" algn="ctr">
              <a:buNone/>
            </a:pPr>
            <a:r>
              <a:rPr lang="en-US" sz="1300" b="1" dirty="0">
                <a:solidFill>
                  <a:srgbClr val="FFFFFF"/>
                </a:solidFill>
              </a:rPr>
              <a:t>MISSION 3</a:t>
            </a:r>
            <a:endParaRPr lang="en-US" sz="1300" dirty="0"/>
          </a:p>
        </p:txBody>
      </p:sp>
      <p:sp>
        <p:nvSpPr>
          <p:cNvPr id="31" name="Shape 29"/>
          <p:cNvSpPr/>
          <p:nvPr/>
        </p:nvSpPr>
        <p:spPr>
          <a:xfrm>
            <a:off x="6355080" y="1645920"/>
            <a:ext cx="2468880" cy="411480"/>
          </a:xfrm>
          <a:prstGeom prst="rect">
            <a:avLst/>
          </a:prstGeom>
          <a:solidFill>
            <a:srgbClr val="EFF6FF"/>
          </a:solidFill>
          <a:ln w="12700">
            <a:solidFill>
              <a:srgbClr val="93C5FD"/>
            </a:solidFill>
            <a:prstDash val="dash"/>
          </a:ln>
        </p:spPr>
      </p:sp>
      <p:sp>
        <p:nvSpPr>
          <p:cNvPr id="32" name="Text 30"/>
          <p:cNvSpPr/>
          <p:nvPr/>
        </p:nvSpPr>
        <p:spPr>
          <a:xfrm>
            <a:off x="6355080" y="1645920"/>
            <a:ext cx="2468880" cy="411480"/>
          </a:xfrm>
          <a:prstGeom prst="rect">
            <a:avLst/>
          </a:prstGeom>
          <a:noFill/>
          <a:ln/>
        </p:spPr>
        <p:txBody>
          <a:bodyPr wrap="square" lIns="76200" tIns="76200" rIns="76200" bIns="76200" rtlCol="0" anchor="ctr"/>
          <a:lstStyle/>
          <a:p>
            <a:pPr marL="0" indent="0" algn="l">
              <a:buNone/>
            </a:pPr>
            <a:r>
              <a:rPr lang="en-US" sz="1100" i="1" dirty="0">
                <a:solidFill>
                  <a:srgbClr val="3B82F6"/>
                </a:solidFill>
              </a:rPr>
              <a:t>Validation du client et publication du site</a:t>
            </a:r>
            <a:endParaRPr lang="en-US" sz="1100" dirty="0"/>
          </a:p>
        </p:txBody>
      </p:sp>
      <p:sp>
        <p:nvSpPr>
          <p:cNvPr id="33" name="Text 31"/>
          <p:cNvSpPr/>
          <p:nvPr/>
        </p:nvSpPr>
        <p:spPr>
          <a:xfrm>
            <a:off x="6355080" y="2148840"/>
            <a:ext cx="2468880" cy="274320"/>
          </a:xfrm>
          <a:prstGeom prst="rect">
            <a:avLst/>
          </a:prstGeom>
          <a:noFill/>
          <a:ln/>
        </p:spPr>
        <p:txBody>
          <a:bodyPr wrap="square" rtlCol="0" anchor="ctr"/>
          <a:lstStyle/>
          <a:p>
            <a:pPr marL="0" indent="0">
              <a:buNone/>
            </a:pPr>
            <a:r>
              <a:rPr lang="en-US" sz="1000" b="1" dirty="0">
                <a:solidFill>
                  <a:srgbClr val="64748B"/>
                </a:solidFill>
              </a:rPr>
              <a:t>Description :</a:t>
            </a:r>
            <a:endParaRPr lang="en-US" sz="1000" dirty="0"/>
          </a:p>
        </p:txBody>
      </p:sp>
      <p:sp>
        <p:nvSpPr>
          <p:cNvPr id="34" name="Shape 32"/>
          <p:cNvSpPr/>
          <p:nvPr/>
        </p:nvSpPr>
        <p:spPr>
          <a:xfrm>
            <a:off x="6355080" y="2423160"/>
            <a:ext cx="2468880" cy="1371600"/>
          </a:xfrm>
          <a:prstGeom prst="rect">
            <a:avLst/>
          </a:prstGeom>
          <a:solidFill>
            <a:srgbClr val="EFF6FF"/>
          </a:solidFill>
          <a:ln w="12700">
            <a:solidFill>
              <a:srgbClr val="93C5FD"/>
            </a:solidFill>
            <a:prstDash val="dash"/>
          </a:ln>
        </p:spPr>
      </p:sp>
      <p:sp>
        <p:nvSpPr>
          <p:cNvPr id="35" name="Text 33"/>
          <p:cNvSpPr/>
          <p:nvPr/>
        </p:nvSpPr>
        <p:spPr>
          <a:xfrm>
            <a:off x="6355080" y="2423160"/>
            <a:ext cx="2468880" cy="1371600"/>
          </a:xfrm>
          <a:prstGeom prst="rect">
            <a:avLst/>
          </a:prstGeom>
          <a:noFill/>
          <a:ln/>
        </p:spPr>
        <p:txBody>
          <a:bodyPr wrap="square" lIns="101600" tIns="101600" rIns="101600" bIns="101600" rtlCol="0" anchor="t"/>
          <a:lstStyle/>
          <a:p>
            <a:pPr marL="342900" indent="-342900">
              <a:buSzPct val="100000"/>
              <a:buChar char="•"/>
            </a:pPr>
            <a:r>
              <a:rPr lang="en-US" sz="1100" i="1" dirty="0">
                <a:solidFill>
                  <a:srgbClr val="3B82F6"/>
                </a:solidFill>
              </a:rPr>
              <a:t>RDV avec le client pour valider la prestation </a:t>
            </a:r>
            <a:endParaRPr lang="en-US" sz="1100" dirty="0"/>
          </a:p>
          <a:p>
            <a:pPr marL="342900" indent="-342900">
              <a:buSzPct val="100000"/>
              <a:buChar char="•"/>
            </a:pPr>
            <a:r>
              <a:rPr lang="en-US" sz="1100" i="1" dirty="0" err="1">
                <a:solidFill>
                  <a:srgbClr val="3B82F6"/>
                </a:solidFill>
              </a:rPr>
              <a:t>Hostinger</a:t>
            </a:r>
            <a:r>
              <a:rPr lang="en-US" sz="1100" i="1" dirty="0">
                <a:solidFill>
                  <a:srgbClr val="3B82F6"/>
                </a:solidFill>
              </a:rPr>
              <a:t> (publication)</a:t>
            </a:r>
            <a:endParaRPr lang="en-US" sz="1100" dirty="0"/>
          </a:p>
          <a:p>
            <a:pPr marL="342900" indent="-342900">
              <a:buSzPct val="100000"/>
              <a:buChar char="•"/>
            </a:pPr>
            <a:r>
              <a:rPr lang="en-US" sz="1100" i="1" dirty="0">
                <a:solidFill>
                  <a:srgbClr val="3B82F6"/>
                </a:solidFill>
              </a:rPr>
              <a:t>Résultat obtenu...</a:t>
            </a:r>
            <a:endParaRPr lang="en-US" sz="1100" dirty="0"/>
          </a:p>
        </p:txBody>
      </p:sp>
      <p:sp>
        <p:nvSpPr>
          <p:cNvPr id="36" name="Text 34"/>
          <p:cNvSpPr/>
          <p:nvPr/>
        </p:nvSpPr>
        <p:spPr>
          <a:xfrm>
            <a:off x="6355080" y="3886200"/>
            <a:ext cx="822960" cy="274320"/>
          </a:xfrm>
          <a:prstGeom prst="rect">
            <a:avLst/>
          </a:prstGeom>
          <a:noFill/>
          <a:ln/>
        </p:spPr>
        <p:txBody>
          <a:bodyPr wrap="square" rtlCol="0" anchor="ctr"/>
          <a:lstStyle/>
          <a:p>
            <a:pPr marL="0" indent="0">
              <a:buNone/>
            </a:pPr>
            <a:r>
              <a:rPr lang="en-US" sz="1000" b="1" dirty="0">
                <a:solidFill>
                  <a:srgbClr val="64748B"/>
                </a:solidFill>
              </a:rPr>
              <a:t>Durée :</a:t>
            </a:r>
            <a:endParaRPr lang="en-US" sz="1000" dirty="0"/>
          </a:p>
        </p:txBody>
      </p:sp>
      <p:sp>
        <p:nvSpPr>
          <p:cNvPr id="37" name="Shape 35"/>
          <p:cNvSpPr/>
          <p:nvPr/>
        </p:nvSpPr>
        <p:spPr>
          <a:xfrm>
            <a:off x="7178040" y="3886200"/>
            <a:ext cx="1645920" cy="274320"/>
          </a:xfrm>
          <a:prstGeom prst="rect">
            <a:avLst/>
          </a:prstGeom>
          <a:solidFill>
            <a:srgbClr val="EFF6FF"/>
          </a:solidFill>
          <a:ln w="12700">
            <a:solidFill>
              <a:srgbClr val="93C5FD"/>
            </a:solidFill>
            <a:prstDash val="dash"/>
          </a:ln>
        </p:spPr>
      </p:sp>
      <p:sp>
        <p:nvSpPr>
          <p:cNvPr id="38" name="Text 36"/>
          <p:cNvSpPr/>
          <p:nvPr/>
        </p:nvSpPr>
        <p:spPr>
          <a:xfrm>
            <a:off x="7178040" y="3886200"/>
            <a:ext cx="1645920" cy="274320"/>
          </a:xfrm>
          <a:prstGeom prst="rect">
            <a:avLst/>
          </a:prstGeom>
          <a:noFill/>
          <a:ln/>
        </p:spPr>
        <p:txBody>
          <a:bodyPr wrap="square" lIns="76200" tIns="76200" rIns="76200" bIns="76200" rtlCol="0" anchor="ctr"/>
          <a:lstStyle/>
          <a:p>
            <a:pPr marL="0" indent="0" algn="l">
              <a:buNone/>
            </a:pPr>
            <a:r>
              <a:rPr lang="en-US" sz="1100" i="1" dirty="0">
                <a:solidFill>
                  <a:srgbClr val="3B82F6"/>
                </a:solidFill>
              </a:rPr>
              <a:t>03 jours</a:t>
            </a:r>
            <a:endParaRPr lang="en-US" sz="1100" dirty="0"/>
          </a:p>
        </p:txBody>
      </p:sp>
      <p:sp>
        <p:nvSpPr>
          <p:cNvPr id="39" name="Shape 37"/>
          <p:cNvSpPr/>
          <p:nvPr/>
        </p:nvSpPr>
        <p:spPr>
          <a:xfrm>
            <a:off x="6217920" y="4297680"/>
            <a:ext cx="2743200" cy="36576"/>
          </a:xfrm>
          <a:prstGeom prst="rect">
            <a:avLst/>
          </a:prstGeom>
          <a:solidFill>
            <a:srgbClr val="F59E0B"/>
          </a:solidFill>
          <a:ln w="12700">
            <a:solidFill>
              <a:srgbClr val="F59E0B"/>
            </a:solidFill>
            <a:prstDash val="solid"/>
          </a:ln>
        </p:spPr>
      </p:sp>
      <p:sp>
        <p:nvSpPr>
          <p:cNvPr id="40" name="Shape 38"/>
          <p:cNvSpPr/>
          <p:nvPr/>
        </p:nvSpPr>
        <p:spPr>
          <a:xfrm>
            <a:off x="0" y="4937760"/>
            <a:ext cx="9144000" cy="205740"/>
          </a:xfrm>
          <a:prstGeom prst="rect">
            <a:avLst/>
          </a:prstGeom>
          <a:solidFill>
            <a:srgbClr val="0891B2"/>
          </a:solidFill>
          <a:ln w="12700">
            <a:solidFill>
              <a:srgbClr val="0891B2"/>
            </a:solidFill>
            <a:prstDash val="solid"/>
          </a:ln>
        </p:spPr>
      </p:sp>
      <p:sp>
        <p:nvSpPr>
          <p:cNvPr id="41" name="Text 39"/>
          <p:cNvSpPr/>
          <p:nvPr/>
        </p:nvSpPr>
        <p:spPr>
          <a:xfrm>
            <a:off x="274320" y="4956048"/>
            <a:ext cx="8595360" cy="164592"/>
          </a:xfrm>
          <a:prstGeom prst="rect">
            <a:avLst/>
          </a:prstGeom>
          <a:noFill/>
          <a:ln/>
        </p:spPr>
        <p:txBody>
          <a:bodyPr wrap="square" rtlCol="0" anchor="ctr"/>
          <a:lstStyle/>
          <a:p>
            <a:pPr marL="0" indent="0" algn="r">
              <a:buNone/>
            </a:pPr>
            <a:r>
              <a:rPr lang="en-US" sz="900" dirty="0">
                <a:solidFill>
                  <a:srgbClr val="FFFFFF"/>
                </a:solidFill>
              </a:rPr>
              <a:t>Rapport de stage</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1005840"/>
          </a:xfrm>
          <a:prstGeom prst="rect">
            <a:avLst/>
          </a:prstGeom>
          <a:solidFill>
            <a:srgbClr val="1A3557"/>
          </a:solidFill>
          <a:ln w="12700">
            <a:solidFill>
              <a:srgbClr val="1A3557"/>
            </a:solidFill>
            <a:prstDash val="solid"/>
          </a:ln>
        </p:spPr>
      </p:sp>
      <p:sp>
        <p:nvSpPr>
          <p:cNvPr id="3" name="Text 1"/>
          <p:cNvSpPr/>
          <p:nvPr/>
        </p:nvSpPr>
        <p:spPr>
          <a:xfrm>
            <a:off x="457200" y="228600"/>
            <a:ext cx="8229600" cy="548640"/>
          </a:xfrm>
          <a:prstGeom prst="rect">
            <a:avLst/>
          </a:prstGeom>
          <a:noFill/>
          <a:ln/>
        </p:spPr>
        <p:txBody>
          <a:bodyPr wrap="square" rtlCol="0" anchor="ctr"/>
          <a:lstStyle/>
          <a:p>
            <a:pPr marL="0" indent="0">
              <a:buNone/>
            </a:pPr>
            <a:r>
              <a:rPr lang="en-US" sz="2200" b="1" kern="0" spc="100" dirty="0">
                <a:solidFill>
                  <a:srgbClr val="FFFFFF"/>
                </a:solidFill>
              </a:rPr>
              <a:t>03  |  COMPÉTENCES ACQUISES</a:t>
            </a:r>
            <a:endParaRPr lang="en-US" sz="2200" dirty="0"/>
          </a:p>
        </p:txBody>
      </p:sp>
      <p:sp>
        <p:nvSpPr>
          <p:cNvPr id="4" name="Shape 2"/>
          <p:cNvSpPr/>
          <p:nvPr/>
        </p:nvSpPr>
        <p:spPr>
          <a:xfrm>
            <a:off x="365760" y="1143000"/>
            <a:ext cx="3931920" cy="411480"/>
          </a:xfrm>
          <a:prstGeom prst="rect">
            <a:avLst/>
          </a:prstGeom>
          <a:solidFill>
            <a:srgbClr val="0891B2"/>
          </a:solidFill>
          <a:ln w="12700">
            <a:solidFill>
              <a:srgbClr val="0891B2"/>
            </a:solidFill>
            <a:prstDash val="solid"/>
          </a:ln>
        </p:spPr>
      </p:sp>
      <p:sp>
        <p:nvSpPr>
          <p:cNvPr id="5" name="Text 3"/>
          <p:cNvSpPr/>
          <p:nvPr/>
        </p:nvSpPr>
        <p:spPr>
          <a:xfrm>
            <a:off x="365760" y="1143000"/>
            <a:ext cx="3931920" cy="411480"/>
          </a:xfrm>
          <a:prstGeom prst="rect">
            <a:avLst/>
          </a:prstGeom>
          <a:noFill/>
          <a:ln/>
        </p:spPr>
        <p:txBody>
          <a:bodyPr wrap="square" rtlCol="0" anchor="ctr"/>
          <a:lstStyle/>
          <a:p>
            <a:pPr marL="0" indent="0" algn="ctr">
              <a:buNone/>
            </a:pPr>
            <a:r>
              <a:rPr lang="en-US" sz="1300" b="1" dirty="0">
                <a:solidFill>
                  <a:srgbClr val="FFFFFF"/>
                </a:solidFill>
              </a:rPr>
              <a:t>Compétences techniques</a:t>
            </a:r>
            <a:endParaRPr lang="en-US" sz="1300" dirty="0"/>
          </a:p>
        </p:txBody>
      </p:sp>
      <p:sp>
        <p:nvSpPr>
          <p:cNvPr id="6" name="Shape 4"/>
          <p:cNvSpPr/>
          <p:nvPr/>
        </p:nvSpPr>
        <p:spPr>
          <a:xfrm>
            <a:off x="365760" y="1600200"/>
            <a:ext cx="3931920" cy="1828800"/>
          </a:xfrm>
          <a:prstGeom prst="rect">
            <a:avLst/>
          </a:prstGeom>
          <a:solidFill>
            <a:srgbClr val="EFF6FF"/>
          </a:solidFill>
          <a:ln w="12700">
            <a:solidFill>
              <a:srgbClr val="93C5FD"/>
            </a:solidFill>
            <a:prstDash val="dash"/>
          </a:ln>
        </p:spPr>
      </p:sp>
      <p:sp>
        <p:nvSpPr>
          <p:cNvPr id="7" name="Text 5"/>
          <p:cNvSpPr/>
          <p:nvPr/>
        </p:nvSpPr>
        <p:spPr>
          <a:xfrm>
            <a:off x="365760" y="1600200"/>
            <a:ext cx="3931920" cy="1828800"/>
          </a:xfrm>
          <a:prstGeom prst="rect">
            <a:avLst/>
          </a:prstGeom>
          <a:noFill/>
          <a:ln/>
        </p:spPr>
        <p:txBody>
          <a:bodyPr wrap="square" lIns="101600" tIns="101600" rIns="101600" bIns="101600" rtlCol="0" anchor="t"/>
          <a:lstStyle/>
          <a:p>
            <a:pPr>
              <a:buSzPct val="100000"/>
            </a:pPr>
            <a:r>
              <a:rPr lang="en-US" sz="1100" i="1" dirty="0">
                <a:solidFill>
                  <a:srgbClr val="3B82F6"/>
                </a:solidFill>
              </a:rPr>
              <a:t>	</a:t>
            </a:r>
            <a:r>
              <a:rPr lang="en-US" sz="1100" i="1" dirty="0" err="1">
                <a:solidFill>
                  <a:srgbClr val="3B82F6"/>
                </a:solidFill>
              </a:rPr>
              <a:t>Maîtrise</a:t>
            </a:r>
            <a:r>
              <a:rPr lang="en-US" sz="1100" i="1" dirty="0">
                <a:solidFill>
                  <a:srgbClr val="3B82F6"/>
                </a:solidFill>
              </a:rPr>
              <a:t> plus </a:t>
            </a:r>
            <a:r>
              <a:rPr lang="en-US" sz="1100" i="1" dirty="0" err="1">
                <a:solidFill>
                  <a:srgbClr val="3B82F6"/>
                </a:solidFill>
              </a:rPr>
              <a:t>approfondie</a:t>
            </a:r>
            <a:r>
              <a:rPr lang="en-US" sz="1100" i="1" dirty="0">
                <a:solidFill>
                  <a:srgbClr val="3B82F6"/>
                </a:solidFill>
              </a:rPr>
              <a:t> des </a:t>
            </a:r>
            <a:r>
              <a:rPr lang="en-US" sz="1100" i="1" dirty="0" err="1">
                <a:solidFill>
                  <a:srgbClr val="3B82F6"/>
                </a:solidFill>
              </a:rPr>
              <a:t>langages</a:t>
            </a:r>
            <a:r>
              <a:rPr lang="en-US" sz="1100" i="1" dirty="0">
                <a:solidFill>
                  <a:srgbClr val="3B82F6"/>
                </a:solidFill>
              </a:rPr>
              <a:t> :</a:t>
            </a:r>
          </a:p>
          <a:p>
            <a:pPr marL="342900" indent="-342900">
              <a:buSzPct val="100000"/>
              <a:buChar char="•"/>
            </a:pPr>
            <a:r>
              <a:rPr lang="en-US" sz="1100" i="1" dirty="0">
                <a:solidFill>
                  <a:srgbClr val="3B82F6"/>
                </a:solidFill>
              </a:rPr>
              <a:t>CSS</a:t>
            </a:r>
          </a:p>
          <a:p>
            <a:pPr marL="342900" indent="-342900">
              <a:buSzPct val="100000"/>
              <a:buChar char="•"/>
            </a:pPr>
            <a:r>
              <a:rPr lang="en-US" sz="1100" i="1" dirty="0">
                <a:solidFill>
                  <a:srgbClr val="3B82F6"/>
                </a:solidFill>
              </a:rPr>
              <a:t>PHP</a:t>
            </a:r>
          </a:p>
          <a:p>
            <a:pPr marL="342900" indent="-342900">
              <a:buSzPct val="100000"/>
              <a:buChar char="•"/>
            </a:pPr>
            <a:r>
              <a:rPr lang="en-US" sz="1100" i="1" dirty="0">
                <a:solidFill>
                  <a:srgbClr val="3B82F6"/>
                </a:solidFill>
              </a:rPr>
              <a:t>SQL</a:t>
            </a:r>
          </a:p>
          <a:p>
            <a:pPr marL="342900" indent="-342900">
              <a:buSzPct val="100000"/>
              <a:buChar char="•"/>
            </a:pPr>
            <a:r>
              <a:rPr lang="en-US" sz="1100" i="1" dirty="0">
                <a:solidFill>
                  <a:srgbClr val="3B82F6"/>
                </a:solidFill>
              </a:rPr>
              <a:t>JavaScript</a:t>
            </a:r>
            <a:endParaRPr lang="en-US" sz="1100" dirty="0"/>
          </a:p>
        </p:txBody>
      </p:sp>
      <p:sp>
        <p:nvSpPr>
          <p:cNvPr id="8" name="Shape 6"/>
          <p:cNvSpPr/>
          <p:nvPr/>
        </p:nvSpPr>
        <p:spPr>
          <a:xfrm>
            <a:off x="4754880" y="1143000"/>
            <a:ext cx="3931920" cy="411480"/>
          </a:xfrm>
          <a:prstGeom prst="rect">
            <a:avLst/>
          </a:prstGeom>
          <a:solidFill>
            <a:srgbClr val="7C3AED"/>
          </a:solidFill>
          <a:ln w="12700">
            <a:solidFill>
              <a:srgbClr val="7C3AED"/>
            </a:solidFill>
            <a:prstDash val="solid"/>
          </a:ln>
        </p:spPr>
      </p:sp>
      <p:sp>
        <p:nvSpPr>
          <p:cNvPr id="9" name="Text 7"/>
          <p:cNvSpPr/>
          <p:nvPr/>
        </p:nvSpPr>
        <p:spPr>
          <a:xfrm>
            <a:off x="4754880" y="1143000"/>
            <a:ext cx="3931920" cy="411480"/>
          </a:xfrm>
          <a:prstGeom prst="rect">
            <a:avLst/>
          </a:prstGeom>
          <a:noFill/>
          <a:ln/>
        </p:spPr>
        <p:txBody>
          <a:bodyPr wrap="square" rtlCol="0" anchor="ctr"/>
          <a:lstStyle/>
          <a:p>
            <a:pPr marL="0" indent="0" algn="ctr">
              <a:buNone/>
            </a:pPr>
            <a:r>
              <a:rPr lang="en-US" sz="1300" b="1" dirty="0">
                <a:solidFill>
                  <a:srgbClr val="FFFFFF"/>
                </a:solidFill>
              </a:rPr>
              <a:t>Compétences relationnelles</a:t>
            </a:r>
            <a:endParaRPr lang="en-US" sz="1300" dirty="0"/>
          </a:p>
        </p:txBody>
      </p:sp>
      <p:sp>
        <p:nvSpPr>
          <p:cNvPr id="10" name="Shape 8"/>
          <p:cNvSpPr/>
          <p:nvPr/>
        </p:nvSpPr>
        <p:spPr>
          <a:xfrm>
            <a:off x="4754880" y="1600200"/>
            <a:ext cx="3931920" cy="1828800"/>
          </a:xfrm>
          <a:prstGeom prst="rect">
            <a:avLst/>
          </a:prstGeom>
          <a:solidFill>
            <a:srgbClr val="EFF6FF"/>
          </a:solidFill>
          <a:ln w="12700">
            <a:solidFill>
              <a:srgbClr val="93C5FD"/>
            </a:solidFill>
            <a:prstDash val="dash"/>
          </a:ln>
        </p:spPr>
      </p:sp>
      <p:sp>
        <p:nvSpPr>
          <p:cNvPr id="11" name="Text 9"/>
          <p:cNvSpPr/>
          <p:nvPr/>
        </p:nvSpPr>
        <p:spPr>
          <a:xfrm>
            <a:off x="4754880" y="1600200"/>
            <a:ext cx="3931920" cy="1828800"/>
          </a:xfrm>
          <a:prstGeom prst="rect">
            <a:avLst/>
          </a:prstGeom>
          <a:noFill/>
          <a:ln/>
        </p:spPr>
        <p:txBody>
          <a:bodyPr wrap="square" lIns="101600" tIns="101600" rIns="101600" bIns="101600" rtlCol="0" anchor="t"/>
          <a:lstStyle/>
          <a:p>
            <a:pPr marL="342900" indent="-342900">
              <a:buSzPct val="100000"/>
              <a:buChar char="•"/>
            </a:pPr>
            <a:r>
              <a:rPr lang="en-US" sz="1100" i="1" dirty="0">
                <a:solidFill>
                  <a:srgbClr val="3B82F6"/>
                </a:solidFill>
              </a:rPr>
              <a:t>Savoir </a:t>
            </a:r>
            <a:r>
              <a:rPr lang="en-US" sz="1100" i="1" dirty="0" err="1">
                <a:solidFill>
                  <a:srgbClr val="3B82F6"/>
                </a:solidFill>
              </a:rPr>
              <a:t>vendre</a:t>
            </a:r>
            <a:r>
              <a:rPr lang="en-US" sz="1100" i="1" dirty="0">
                <a:solidFill>
                  <a:srgbClr val="3B82F6"/>
                </a:solidFill>
              </a:rPr>
              <a:t> son </a:t>
            </a:r>
            <a:r>
              <a:rPr lang="en-US" sz="1100" i="1" dirty="0" err="1">
                <a:solidFill>
                  <a:srgbClr val="3B82F6"/>
                </a:solidFill>
              </a:rPr>
              <a:t>produit</a:t>
            </a:r>
            <a:r>
              <a:rPr lang="en-US" sz="1100" i="1" dirty="0">
                <a:solidFill>
                  <a:srgbClr val="3B82F6"/>
                </a:solidFill>
              </a:rPr>
              <a:t> </a:t>
            </a:r>
            <a:endParaRPr lang="en-US" sz="1100" dirty="0"/>
          </a:p>
          <a:p>
            <a:pPr marL="342900" indent="-342900">
              <a:buSzPct val="100000"/>
              <a:buChar char="•"/>
            </a:pPr>
            <a:r>
              <a:rPr lang="en-US" sz="1100" i="1" dirty="0" err="1">
                <a:solidFill>
                  <a:srgbClr val="3B82F6"/>
                </a:solidFill>
              </a:rPr>
              <a:t>Capacitée</a:t>
            </a:r>
            <a:r>
              <a:rPr lang="en-US" sz="1100" i="1" dirty="0">
                <a:solidFill>
                  <a:srgbClr val="3B82F6"/>
                </a:solidFill>
              </a:rPr>
              <a:t> à </a:t>
            </a:r>
            <a:r>
              <a:rPr lang="en-US" sz="1100" i="1" dirty="0" err="1">
                <a:solidFill>
                  <a:srgbClr val="3B82F6"/>
                </a:solidFill>
              </a:rPr>
              <a:t>échanger</a:t>
            </a:r>
            <a:r>
              <a:rPr lang="en-US" sz="1100" i="1" dirty="0">
                <a:solidFill>
                  <a:srgbClr val="3B82F6"/>
                </a:solidFill>
              </a:rPr>
              <a:t> avec son client</a:t>
            </a:r>
            <a:endParaRPr lang="en-US" sz="1100" dirty="0"/>
          </a:p>
          <a:p>
            <a:pPr marL="342900" indent="-342900">
              <a:buSzPct val="100000"/>
              <a:buChar char="•"/>
            </a:pPr>
            <a:r>
              <a:rPr lang="en-US" sz="1100" i="1" dirty="0" err="1">
                <a:solidFill>
                  <a:srgbClr val="3B82F6"/>
                </a:solidFill>
              </a:rPr>
              <a:t>Comprendre</a:t>
            </a:r>
            <a:r>
              <a:rPr lang="en-US" sz="1100" i="1" dirty="0">
                <a:solidFill>
                  <a:srgbClr val="3B82F6"/>
                </a:solidFill>
              </a:rPr>
              <a:t> les </a:t>
            </a:r>
            <a:r>
              <a:rPr lang="en-US" sz="1100" i="1" dirty="0" err="1">
                <a:solidFill>
                  <a:srgbClr val="3B82F6"/>
                </a:solidFill>
              </a:rPr>
              <a:t>attentes</a:t>
            </a:r>
            <a:r>
              <a:rPr lang="en-US" sz="1100" i="1" dirty="0">
                <a:solidFill>
                  <a:srgbClr val="3B82F6"/>
                </a:solidFill>
              </a:rPr>
              <a:t> du client </a:t>
            </a:r>
            <a:endParaRPr lang="en-US" sz="1100" dirty="0"/>
          </a:p>
          <a:p>
            <a:pPr>
              <a:buSzPct val="100000"/>
            </a:pPr>
            <a:endParaRPr lang="en-US" sz="1100" dirty="0"/>
          </a:p>
        </p:txBody>
      </p:sp>
      <p:sp>
        <p:nvSpPr>
          <p:cNvPr id="12" name="Shape 10"/>
          <p:cNvSpPr/>
          <p:nvPr/>
        </p:nvSpPr>
        <p:spPr>
          <a:xfrm>
            <a:off x="365760" y="3611880"/>
            <a:ext cx="8412480" cy="45720"/>
          </a:xfrm>
          <a:prstGeom prst="rect">
            <a:avLst/>
          </a:prstGeom>
          <a:solidFill>
            <a:srgbClr val="0891B2"/>
          </a:solidFill>
          <a:ln w="12700">
            <a:solidFill>
              <a:srgbClr val="0891B2"/>
            </a:solidFill>
            <a:prstDash val="solid"/>
          </a:ln>
        </p:spPr>
      </p:sp>
      <p:sp>
        <p:nvSpPr>
          <p:cNvPr id="13" name="Text 11"/>
          <p:cNvSpPr/>
          <p:nvPr/>
        </p:nvSpPr>
        <p:spPr>
          <a:xfrm>
            <a:off x="365760" y="3703320"/>
            <a:ext cx="8412480" cy="320040"/>
          </a:xfrm>
          <a:prstGeom prst="rect">
            <a:avLst/>
          </a:prstGeom>
          <a:noFill/>
          <a:ln/>
        </p:spPr>
        <p:txBody>
          <a:bodyPr wrap="square" lIns="0" tIns="0" rIns="0" bIns="0" rtlCol="0" anchor="ctr"/>
          <a:lstStyle/>
          <a:p>
            <a:pPr marL="0" indent="0">
              <a:buNone/>
            </a:pPr>
            <a:r>
              <a:rPr lang="en-US" sz="1200" b="1" kern="0" spc="200" dirty="0">
                <a:solidFill>
                  <a:srgbClr val="1A3557"/>
                </a:solidFill>
              </a:rPr>
              <a:t>OUTILS &amp; TECHNOLOGIES UTILISÉS</a:t>
            </a:r>
            <a:endParaRPr lang="en-US" sz="1200" dirty="0"/>
          </a:p>
        </p:txBody>
      </p:sp>
      <p:sp>
        <p:nvSpPr>
          <p:cNvPr id="14" name="Shape 12"/>
          <p:cNvSpPr/>
          <p:nvPr/>
        </p:nvSpPr>
        <p:spPr>
          <a:xfrm>
            <a:off x="365760" y="4023360"/>
            <a:ext cx="8412480" cy="822960"/>
          </a:xfrm>
          <a:prstGeom prst="rect">
            <a:avLst/>
          </a:prstGeom>
          <a:solidFill>
            <a:srgbClr val="EFF6FF"/>
          </a:solidFill>
          <a:ln w="12700">
            <a:solidFill>
              <a:srgbClr val="93C5FD"/>
            </a:solidFill>
            <a:prstDash val="dash"/>
          </a:ln>
        </p:spPr>
        <p:txBody>
          <a:bodyPr/>
          <a:lstStyle/>
          <a:p>
            <a:endParaRPr lang="fr-FR" dirty="0"/>
          </a:p>
        </p:txBody>
      </p:sp>
      <p:sp>
        <p:nvSpPr>
          <p:cNvPr id="15" name="Text 13"/>
          <p:cNvSpPr/>
          <p:nvPr/>
        </p:nvSpPr>
        <p:spPr>
          <a:xfrm>
            <a:off x="365760" y="4023360"/>
            <a:ext cx="8412480" cy="822960"/>
          </a:xfrm>
          <a:prstGeom prst="rect">
            <a:avLst/>
          </a:prstGeom>
          <a:noFill/>
          <a:ln/>
        </p:spPr>
        <p:txBody>
          <a:bodyPr wrap="square" lIns="101600" tIns="101600" rIns="101600" bIns="101600" rtlCol="0" anchor="t"/>
          <a:lstStyle/>
          <a:p>
            <a:pPr marL="342900" indent="-342900">
              <a:buSzPct val="100000"/>
              <a:buChar char="•"/>
            </a:pPr>
            <a:r>
              <a:rPr lang="en-US" sz="1100" i="1" dirty="0" err="1">
                <a:solidFill>
                  <a:srgbClr val="3B82F6"/>
                </a:solidFill>
              </a:rPr>
              <a:t>VSCode</a:t>
            </a:r>
            <a:r>
              <a:rPr lang="en-US" sz="1100" i="1" dirty="0">
                <a:solidFill>
                  <a:srgbClr val="3B82F6"/>
                </a:solidFill>
              </a:rPr>
              <a:t>, CANVA, GAMMA</a:t>
            </a:r>
            <a:endParaRPr lang="en-US" sz="1100" dirty="0"/>
          </a:p>
          <a:p>
            <a:pPr marL="342900" indent="-342900">
              <a:buSzPct val="100000"/>
              <a:buChar char="•"/>
            </a:pPr>
            <a:r>
              <a:rPr lang="en-US" sz="1100" i="1" dirty="0">
                <a:solidFill>
                  <a:srgbClr val="3B82F6"/>
                </a:solidFill>
              </a:rPr>
              <a:t>WAMP-SERVER</a:t>
            </a:r>
            <a:endParaRPr lang="en-US" sz="1100" dirty="0"/>
          </a:p>
          <a:p>
            <a:pPr marL="342900" indent="-342900">
              <a:buSzPct val="100000"/>
              <a:buChar char="•"/>
            </a:pPr>
            <a:r>
              <a:rPr lang="en-US" sz="1100" i="1" dirty="0" err="1">
                <a:solidFill>
                  <a:srgbClr val="3B82F6"/>
                </a:solidFill>
              </a:rPr>
              <a:t>Hostinger</a:t>
            </a:r>
            <a:endParaRPr lang="en-US" sz="1100" dirty="0"/>
          </a:p>
        </p:txBody>
      </p:sp>
      <p:sp>
        <p:nvSpPr>
          <p:cNvPr id="16" name="Shape 14"/>
          <p:cNvSpPr/>
          <p:nvPr/>
        </p:nvSpPr>
        <p:spPr>
          <a:xfrm>
            <a:off x="0" y="4937760"/>
            <a:ext cx="9144000" cy="205740"/>
          </a:xfrm>
          <a:prstGeom prst="rect">
            <a:avLst/>
          </a:prstGeom>
          <a:solidFill>
            <a:srgbClr val="1A3557"/>
          </a:solidFill>
          <a:ln w="12700">
            <a:solidFill>
              <a:srgbClr val="1A3557"/>
            </a:solidFill>
            <a:prstDash val="solid"/>
          </a:ln>
        </p:spPr>
      </p:sp>
      <p:sp>
        <p:nvSpPr>
          <p:cNvPr id="17" name="Text 15"/>
          <p:cNvSpPr/>
          <p:nvPr/>
        </p:nvSpPr>
        <p:spPr>
          <a:xfrm>
            <a:off x="274320" y="4956048"/>
            <a:ext cx="8595360" cy="164592"/>
          </a:xfrm>
          <a:prstGeom prst="rect">
            <a:avLst/>
          </a:prstGeom>
          <a:noFill/>
          <a:ln/>
        </p:spPr>
        <p:txBody>
          <a:bodyPr wrap="square" rtlCol="0" anchor="ctr"/>
          <a:lstStyle/>
          <a:p>
            <a:pPr marL="0" indent="0" algn="r">
              <a:buNone/>
            </a:pPr>
            <a:r>
              <a:rPr lang="en-US" sz="900" dirty="0">
                <a:solidFill>
                  <a:srgbClr val="93C5FD"/>
                </a:solidFill>
              </a:rPr>
              <a:t>Rapport de stage</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1F5F9"/>
        </a:solidFill>
        <a:effectLst/>
      </p:bgPr>
    </p:bg>
    <p:spTree>
      <p:nvGrpSpPr>
        <p:cNvPr id="1" name=""/>
        <p:cNvGrpSpPr/>
        <p:nvPr/>
      </p:nvGrpSpPr>
      <p:grpSpPr>
        <a:xfrm>
          <a:off x="0" y="0"/>
          <a:ext cx="0" cy="0"/>
          <a:chOff x="0" y="0"/>
          <a:chExt cx="0" cy="0"/>
        </a:xfrm>
      </p:grpSpPr>
      <p:sp>
        <p:nvSpPr>
          <p:cNvPr id="2" name="Shape 0"/>
          <p:cNvSpPr/>
          <p:nvPr/>
        </p:nvSpPr>
        <p:spPr>
          <a:xfrm>
            <a:off x="0" y="0"/>
            <a:ext cx="9144000" cy="1005840"/>
          </a:xfrm>
          <a:prstGeom prst="rect">
            <a:avLst/>
          </a:prstGeom>
          <a:solidFill>
            <a:srgbClr val="0891B2"/>
          </a:solidFill>
          <a:ln w="12700">
            <a:solidFill>
              <a:srgbClr val="0891B2"/>
            </a:solidFill>
            <a:prstDash val="solid"/>
          </a:ln>
        </p:spPr>
      </p:sp>
      <p:sp>
        <p:nvSpPr>
          <p:cNvPr id="3" name="Text 1"/>
          <p:cNvSpPr/>
          <p:nvPr/>
        </p:nvSpPr>
        <p:spPr>
          <a:xfrm>
            <a:off x="457200" y="228600"/>
            <a:ext cx="8229600" cy="548640"/>
          </a:xfrm>
          <a:prstGeom prst="rect">
            <a:avLst/>
          </a:prstGeom>
          <a:noFill/>
          <a:ln/>
        </p:spPr>
        <p:txBody>
          <a:bodyPr wrap="square" rtlCol="0" anchor="ctr"/>
          <a:lstStyle/>
          <a:p>
            <a:pPr marL="0" indent="0">
              <a:buNone/>
            </a:pPr>
            <a:r>
              <a:rPr lang="en-US" sz="2200" b="1" kern="0" spc="100" dirty="0">
                <a:solidFill>
                  <a:srgbClr val="FFFFFF"/>
                </a:solidFill>
              </a:rPr>
              <a:t>04  |  BILAN PERSONNEL</a:t>
            </a:r>
            <a:endParaRPr lang="en-US" sz="2200" dirty="0"/>
          </a:p>
        </p:txBody>
      </p:sp>
      <p:sp>
        <p:nvSpPr>
          <p:cNvPr id="4" name="Shape 2"/>
          <p:cNvSpPr/>
          <p:nvPr/>
        </p:nvSpPr>
        <p:spPr>
          <a:xfrm>
            <a:off x="365760" y="1051560"/>
            <a:ext cx="3931920" cy="365760"/>
          </a:xfrm>
          <a:prstGeom prst="rect">
            <a:avLst/>
          </a:prstGeom>
          <a:solidFill>
            <a:srgbClr val="059669"/>
          </a:solidFill>
          <a:ln w="12700">
            <a:solidFill>
              <a:srgbClr val="059669"/>
            </a:solidFill>
            <a:prstDash val="solid"/>
          </a:ln>
        </p:spPr>
      </p:sp>
      <p:sp>
        <p:nvSpPr>
          <p:cNvPr id="5" name="Text 3"/>
          <p:cNvSpPr/>
          <p:nvPr/>
        </p:nvSpPr>
        <p:spPr>
          <a:xfrm>
            <a:off x="365760" y="1051560"/>
            <a:ext cx="3931920" cy="365760"/>
          </a:xfrm>
          <a:prstGeom prst="rect">
            <a:avLst/>
          </a:prstGeom>
          <a:noFill/>
          <a:ln/>
        </p:spPr>
        <p:txBody>
          <a:bodyPr wrap="square" rtlCol="0" anchor="ctr"/>
          <a:lstStyle/>
          <a:p>
            <a:pPr marL="0" indent="0" algn="ctr">
              <a:buNone/>
            </a:pPr>
            <a:r>
              <a:rPr lang="en-US" sz="1300" b="1" dirty="0">
                <a:solidFill>
                  <a:srgbClr val="FFFFFF"/>
                </a:solidFill>
              </a:rPr>
              <a:t>Points positifs</a:t>
            </a:r>
            <a:endParaRPr lang="en-US" sz="1300" dirty="0"/>
          </a:p>
        </p:txBody>
      </p:sp>
      <p:sp>
        <p:nvSpPr>
          <p:cNvPr id="6" name="Shape 4"/>
          <p:cNvSpPr/>
          <p:nvPr/>
        </p:nvSpPr>
        <p:spPr>
          <a:xfrm>
            <a:off x="365760" y="1463040"/>
            <a:ext cx="3931920" cy="1371600"/>
          </a:xfrm>
          <a:prstGeom prst="rect">
            <a:avLst/>
          </a:prstGeom>
          <a:solidFill>
            <a:srgbClr val="EFF6FF"/>
          </a:solidFill>
          <a:ln w="12700">
            <a:solidFill>
              <a:srgbClr val="93C5FD"/>
            </a:solidFill>
            <a:prstDash val="dash"/>
          </a:ln>
        </p:spPr>
      </p:sp>
      <p:sp>
        <p:nvSpPr>
          <p:cNvPr id="7" name="Text 5"/>
          <p:cNvSpPr/>
          <p:nvPr/>
        </p:nvSpPr>
        <p:spPr>
          <a:xfrm>
            <a:off x="365760" y="1463040"/>
            <a:ext cx="3931920" cy="1371600"/>
          </a:xfrm>
          <a:prstGeom prst="rect">
            <a:avLst/>
          </a:prstGeom>
          <a:noFill/>
          <a:ln/>
        </p:spPr>
        <p:txBody>
          <a:bodyPr wrap="square" lIns="101600" tIns="101600" rIns="101600" bIns="101600" rtlCol="0" anchor="t"/>
          <a:lstStyle/>
          <a:p>
            <a:pPr marL="342900" indent="-342900">
              <a:buSzPct val="100000"/>
              <a:buChar char="•"/>
            </a:pPr>
            <a:r>
              <a:rPr lang="en-US" sz="1100" i="1" dirty="0">
                <a:solidFill>
                  <a:srgbClr val="3B82F6"/>
                </a:solidFill>
              </a:rPr>
              <a:t>Apprentissage </a:t>
            </a:r>
            <a:r>
              <a:rPr lang="fr-FR" sz="1100" i="1" dirty="0">
                <a:solidFill>
                  <a:srgbClr val="3B82F6"/>
                </a:solidFill>
              </a:rPr>
              <a:t>intéressant</a:t>
            </a:r>
            <a:r>
              <a:rPr lang="en-US" sz="1100" i="1" dirty="0">
                <a:solidFill>
                  <a:srgbClr val="3B82F6"/>
                </a:solidFill>
              </a:rPr>
              <a:t> grâce aux informatitiens </a:t>
            </a:r>
            <a:endParaRPr lang="en-US" sz="1100" dirty="0"/>
          </a:p>
          <a:p>
            <a:pPr marL="342900" indent="-342900">
              <a:buSzPct val="100000"/>
              <a:buChar char="•"/>
            </a:pPr>
            <a:r>
              <a:rPr lang="en-US" sz="1100" i="1" dirty="0">
                <a:solidFill>
                  <a:srgbClr val="3B82F6"/>
                </a:solidFill>
              </a:rPr>
              <a:t>Flexibilité des horaires </a:t>
            </a:r>
            <a:endParaRPr lang="en-US" sz="1100" dirty="0"/>
          </a:p>
          <a:p>
            <a:pPr marL="342900" indent="-342900">
              <a:buSzPct val="100000"/>
              <a:buChar char="•"/>
            </a:pPr>
            <a:r>
              <a:rPr lang="en-US" sz="1100" i="1" dirty="0">
                <a:solidFill>
                  <a:srgbClr val="3B82F6"/>
                </a:solidFill>
              </a:rPr>
              <a:t>Point à développer 3...</a:t>
            </a:r>
            <a:endParaRPr lang="en-US" sz="1100" dirty="0"/>
          </a:p>
        </p:txBody>
      </p:sp>
      <p:sp>
        <p:nvSpPr>
          <p:cNvPr id="8" name="Shape 6"/>
          <p:cNvSpPr/>
          <p:nvPr/>
        </p:nvSpPr>
        <p:spPr>
          <a:xfrm>
            <a:off x="4754880" y="1051560"/>
            <a:ext cx="3931920" cy="365760"/>
          </a:xfrm>
          <a:prstGeom prst="rect">
            <a:avLst/>
          </a:prstGeom>
          <a:solidFill>
            <a:srgbClr val="DC2626"/>
          </a:solidFill>
          <a:ln w="12700">
            <a:solidFill>
              <a:srgbClr val="DC2626"/>
            </a:solidFill>
            <a:prstDash val="solid"/>
          </a:ln>
        </p:spPr>
      </p:sp>
      <p:sp>
        <p:nvSpPr>
          <p:cNvPr id="9" name="Text 7"/>
          <p:cNvSpPr/>
          <p:nvPr/>
        </p:nvSpPr>
        <p:spPr>
          <a:xfrm>
            <a:off x="4754880" y="1051560"/>
            <a:ext cx="3931920" cy="365760"/>
          </a:xfrm>
          <a:prstGeom prst="rect">
            <a:avLst/>
          </a:prstGeom>
          <a:noFill/>
          <a:ln/>
        </p:spPr>
        <p:txBody>
          <a:bodyPr wrap="square" rtlCol="0" anchor="ctr"/>
          <a:lstStyle/>
          <a:p>
            <a:pPr marL="0" indent="0" algn="ctr">
              <a:buNone/>
            </a:pPr>
            <a:r>
              <a:rPr lang="en-US" sz="1300" b="1" dirty="0">
                <a:solidFill>
                  <a:srgbClr val="FFFFFF"/>
                </a:solidFill>
              </a:rPr>
              <a:t>Difficultés rencontrées</a:t>
            </a:r>
            <a:endParaRPr lang="en-US" sz="1300" dirty="0"/>
          </a:p>
        </p:txBody>
      </p:sp>
      <p:sp>
        <p:nvSpPr>
          <p:cNvPr id="10" name="Shape 8"/>
          <p:cNvSpPr/>
          <p:nvPr/>
        </p:nvSpPr>
        <p:spPr>
          <a:xfrm>
            <a:off x="4754880" y="1463040"/>
            <a:ext cx="3931920" cy="1371600"/>
          </a:xfrm>
          <a:prstGeom prst="rect">
            <a:avLst/>
          </a:prstGeom>
          <a:solidFill>
            <a:srgbClr val="EFF6FF"/>
          </a:solidFill>
          <a:ln w="12700">
            <a:solidFill>
              <a:srgbClr val="93C5FD"/>
            </a:solidFill>
            <a:prstDash val="dash"/>
          </a:ln>
        </p:spPr>
      </p:sp>
      <p:sp>
        <p:nvSpPr>
          <p:cNvPr id="11" name="Text 9"/>
          <p:cNvSpPr/>
          <p:nvPr/>
        </p:nvSpPr>
        <p:spPr>
          <a:xfrm>
            <a:off x="4754880" y="1463040"/>
            <a:ext cx="3931920" cy="1371600"/>
          </a:xfrm>
          <a:prstGeom prst="rect">
            <a:avLst/>
          </a:prstGeom>
          <a:noFill/>
          <a:ln/>
        </p:spPr>
        <p:txBody>
          <a:bodyPr wrap="square" lIns="101600" tIns="101600" rIns="101600" bIns="101600" rtlCol="0" anchor="t"/>
          <a:lstStyle/>
          <a:p>
            <a:pPr marL="342900" indent="-342900">
              <a:buSzPct val="100000"/>
              <a:buChar char="•"/>
            </a:pPr>
            <a:r>
              <a:rPr lang="en-US" sz="1100" i="1" dirty="0">
                <a:solidFill>
                  <a:srgbClr val="3B82F6"/>
                </a:solidFill>
              </a:rPr>
              <a:t>CSS </a:t>
            </a:r>
            <a:r>
              <a:rPr lang="en-US" sz="1100" i="1" dirty="0" err="1">
                <a:solidFill>
                  <a:srgbClr val="3B82F6"/>
                </a:solidFill>
              </a:rPr>
              <a:t>compliqué</a:t>
            </a:r>
            <a:r>
              <a:rPr lang="en-US" sz="1100" i="1" dirty="0">
                <a:solidFill>
                  <a:srgbClr val="3B82F6"/>
                </a:solidFill>
              </a:rPr>
              <a:t> à adapter par rapport à nos pensées</a:t>
            </a:r>
            <a:endParaRPr lang="en-US" sz="1100" dirty="0"/>
          </a:p>
          <a:p>
            <a:pPr marL="342900" indent="-342900">
              <a:buSzPct val="100000"/>
              <a:buChar char="•"/>
            </a:pPr>
            <a:r>
              <a:rPr lang="en-US" sz="1100" i="1" dirty="0">
                <a:solidFill>
                  <a:srgbClr val="3B82F6"/>
                </a:solidFill>
              </a:rPr>
              <a:t>Point à développer 2...</a:t>
            </a:r>
            <a:endParaRPr lang="en-US" sz="1100" dirty="0"/>
          </a:p>
          <a:p>
            <a:pPr marL="342900" indent="-342900">
              <a:buSzPct val="100000"/>
              <a:buChar char="•"/>
            </a:pPr>
            <a:r>
              <a:rPr lang="en-US" sz="1100" i="1" dirty="0">
                <a:solidFill>
                  <a:srgbClr val="3B82F6"/>
                </a:solidFill>
              </a:rPr>
              <a:t>Point à développer 3...</a:t>
            </a:r>
            <a:endParaRPr lang="en-US" sz="1100" dirty="0"/>
          </a:p>
        </p:txBody>
      </p:sp>
      <p:sp>
        <p:nvSpPr>
          <p:cNvPr id="12" name="Shape 10"/>
          <p:cNvSpPr/>
          <p:nvPr/>
        </p:nvSpPr>
        <p:spPr>
          <a:xfrm>
            <a:off x="365760" y="2971800"/>
            <a:ext cx="8412480" cy="45720"/>
          </a:xfrm>
          <a:prstGeom prst="rect">
            <a:avLst/>
          </a:prstGeom>
          <a:solidFill>
            <a:srgbClr val="0891B2"/>
          </a:solidFill>
          <a:ln w="12700">
            <a:solidFill>
              <a:srgbClr val="0891B2"/>
            </a:solidFill>
            <a:prstDash val="solid"/>
          </a:ln>
        </p:spPr>
      </p:sp>
      <p:sp>
        <p:nvSpPr>
          <p:cNvPr id="13" name="Text 11"/>
          <p:cNvSpPr/>
          <p:nvPr/>
        </p:nvSpPr>
        <p:spPr>
          <a:xfrm>
            <a:off x="365760" y="3063240"/>
            <a:ext cx="8412480" cy="320040"/>
          </a:xfrm>
          <a:prstGeom prst="rect">
            <a:avLst/>
          </a:prstGeom>
          <a:noFill/>
          <a:ln/>
        </p:spPr>
        <p:txBody>
          <a:bodyPr wrap="square" lIns="0" tIns="0" rIns="0" bIns="0" rtlCol="0" anchor="ctr"/>
          <a:lstStyle/>
          <a:p>
            <a:pPr marL="0" indent="0">
              <a:buNone/>
            </a:pPr>
            <a:r>
              <a:rPr lang="en-US" sz="1200" b="1" kern="0" spc="200" dirty="0">
                <a:solidFill>
                  <a:srgbClr val="1A3557"/>
                </a:solidFill>
              </a:rPr>
              <a:t>APPORTS DU STAGE / CE QUE J'EN RETIENS</a:t>
            </a:r>
            <a:endParaRPr lang="en-US" sz="1200" dirty="0"/>
          </a:p>
        </p:txBody>
      </p:sp>
      <p:sp>
        <p:nvSpPr>
          <p:cNvPr id="14" name="Shape 12"/>
          <p:cNvSpPr/>
          <p:nvPr/>
        </p:nvSpPr>
        <p:spPr>
          <a:xfrm>
            <a:off x="365760" y="3383280"/>
            <a:ext cx="8412480" cy="1371600"/>
          </a:xfrm>
          <a:prstGeom prst="rect">
            <a:avLst/>
          </a:prstGeom>
          <a:solidFill>
            <a:srgbClr val="EFF6FF"/>
          </a:solidFill>
          <a:ln w="12700">
            <a:solidFill>
              <a:srgbClr val="93C5FD"/>
            </a:solidFill>
            <a:prstDash val="dash"/>
          </a:ln>
        </p:spPr>
      </p:sp>
      <p:sp>
        <p:nvSpPr>
          <p:cNvPr id="15" name="Text 13"/>
          <p:cNvSpPr/>
          <p:nvPr/>
        </p:nvSpPr>
        <p:spPr>
          <a:xfrm>
            <a:off x="365760" y="3383280"/>
            <a:ext cx="8412480" cy="1371600"/>
          </a:xfrm>
          <a:prstGeom prst="rect">
            <a:avLst/>
          </a:prstGeom>
          <a:noFill/>
          <a:ln/>
        </p:spPr>
        <p:txBody>
          <a:bodyPr wrap="square" lIns="101600" tIns="101600" rIns="101600" bIns="101600" rtlCol="0" anchor="t"/>
          <a:lstStyle/>
          <a:p>
            <a:pPr marL="342900" indent="-342900">
              <a:buSzPct val="100000"/>
              <a:buChar char="•"/>
            </a:pPr>
            <a:r>
              <a:rPr lang="en-US" sz="1100" i="1" dirty="0" err="1">
                <a:solidFill>
                  <a:srgbClr val="3B82F6"/>
                </a:solidFill>
              </a:rPr>
              <a:t>Déroulement</a:t>
            </a:r>
            <a:r>
              <a:rPr lang="en-US" sz="1100" i="1" dirty="0">
                <a:solidFill>
                  <a:srgbClr val="3B82F6"/>
                </a:solidFill>
              </a:rPr>
              <a:t> et preparation </a:t>
            </a:r>
            <a:r>
              <a:rPr lang="en-US" sz="1100" i="1" dirty="0" err="1">
                <a:solidFill>
                  <a:srgbClr val="3B82F6"/>
                </a:solidFill>
              </a:rPr>
              <a:t>d’une</a:t>
            </a:r>
            <a:r>
              <a:rPr lang="en-US" sz="1100" i="1" dirty="0">
                <a:solidFill>
                  <a:srgbClr val="3B82F6"/>
                </a:solidFill>
              </a:rPr>
              <a:t> prestation </a:t>
            </a:r>
            <a:r>
              <a:rPr lang="en-US" sz="1100" i="1" dirty="0" err="1">
                <a:solidFill>
                  <a:srgbClr val="3B82F6"/>
                </a:solidFill>
              </a:rPr>
              <a:t>en</a:t>
            </a:r>
            <a:r>
              <a:rPr lang="en-US" sz="1100" i="1" dirty="0">
                <a:solidFill>
                  <a:srgbClr val="3B82F6"/>
                </a:solidFill>
              </a:rPr>
              <a:t> tant que </a:t>
            </a:r>
            <a:r>
              <a:rPr lang="en-US" sz="1100" i="1" dirty="0" err="1">
                <a:solidFill>
                  <a:srgbClr val="3B82F6"/>
                </a:solidFill>
              </a:rPr>
              <a:t>développeur</a:t>
            </a:r>
            <a:endParaRPr lang="en-US" sz="1100" dirty="0"/>
          </a:p>
          <a:p>
            <a:pPr marL="342900" indent="-342900">
              <a:buSzPct val="100000"/>
              <a:buChar char="•"/>
            </a:pPr>
            <a:r>
              <a:rPr lang="en-US" sz="1100" i="1" dirty="0">
                <a:solidFill>
                  <a:srgbClr val="3B82F6"/>
                </a:solidFill>
              </a:rPr>
              <a:t>Impact sur mon projet professionnel...</a:t>
            </a:r>
            <a:endParaRPr lang="en-US" sz="1100" dirty="0"/>
          </a:p>
          <a:p>
            <a:pPr marL="342900" indent="-342900">
              <a:buSzPct val="100000"/>
              <a:buChar char="•"/>
            </a:pPr>
            <a:r>
              <a:rPr lang="en-US" sz="1100" i="1" dirty="0">
                <a:solidFill>
                  <a:srgbClr val="3B82F6"/>
                </a:solidFill>
              </a:rPr>
              <a:t>Ce que je referais / changerais...</a:t>
            </a:r>
            <a:endParaRPr lang="en-US" sz="1100" dirty="0"/>
          </a:p>
        </p:txBody>
      </p:sp>
      <p:sp>
        <p:nvSpPr>
          <p:cNvPr id="16" name="Shape 14"/>
          <p:cNvSpPr/>
          <p:nvPr/>
        </p:nvSpPr>
        <p:spPr>
          <a:xfrm>
            <a:off x="0" y="4937760"/>
            <a:ext cx="9144000" cy="205740"/>
          </a:xfrm>
          <a:prstGeom prst="rect">
            <a:avLst/>
          </a:prstGeom>
          <a:solidFill>
            <a:srgbClr val="0891B2"/>
          </a:solidFill>
          <a:ln w="12700">
            <a:solidFill>
              <a:srgbClr val="0891B2"/>
            </a:solidFill>
            <a:prstDash val="solid"/>
          </a:ln>
        </p:spPr>
      </p:sp>
      <p:sp>
        <p:nvSpPr>
          <p:cNvPr id="17" name="Text 15"/>
          <p:cNvSpPr/>
          <p:nvPr/>
        </p:nvSpPr>
        <p:spPr>
          <a:xfrm>
            <a:off x="274320" y="4956048"/>
            <a:ext cx="8595360" cy="164592"/>
          </a:xfrm>
          <a:prstGeom prst="rect">
            <a:avLst/>
          </a:prstGeom>
          <a:noFill/>
          <a:ln/>
        </p:spPr>
        <p:txBody>
          <a:bodyPr wrap="square" rtlCol="0" anchor="ctr"/>
          <a:lstStyle/>
          <a:p>
            <a:pPr marL="0" indent="0" algn="r">
              <a:buNone/>
            </a:pPr>
            <a:r>
              <a:rPr lang="en-US" sz="900" dirty="0">
                <a:solidFill>
                  <a:srgbClr val="FFFFFF"/>
                </a:solidFill>
              </a:rPr>
              <a:t>Rapport de stage</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A3557"/>
        </a:solidFill>
        <a:effectLst/>
      </p:bgPr>
    </p:bg>
    <p:spTree>
      <p:nvGrpSpPr>
        <p:cNvPr id="1" name=""/>
        <p:cNvGrpSpPr/>
        <p:nvPr/>
      </p:nvGrpSpPr>
      <p:grpSpPr>
        <a:xfrm>
          <a:off x="0" y="0"/>
          <a:ext cx="0" cy="0"/>
          <a:chOff x="0" y="0"/>
          <a:chExt cx="0" cy="0"/>
        </a:xfrm>
      </p:grpSpPr>
      <p:sp>
        <p:nvSpPr>
          <p:cNvPr id="2" name="Shape 0"/>
          <p:cNvSpPr/>
          <p:nvPr/>
        </p:nvSpPr>
        <p:spPr>
          <a:xfrm>
            <a:off x="0" y="0"/>
            <a:ext cx="9144000" cy="91440"/>
          </a:xfrm>
          <a:prstGeom prst="rect">
            <a:avLst/>
          </a:prstGeom>
          <a:solidFill>
            <a:srgbClr val="F59E0B"/>
          </a:solidFill>
          <a:ln w="12700">
            <a:solidFill>
              <a:srgbClr val="F59E0B"/>
            </a:solidFill>
            <a:prstDash val="solid"/>
          </a:ln>
        </p:spPr>
      </p:sp>
      <p:sp>
        <p:nvSpPr>
          <p:cNvPr id="3" name="Text 1"/>
          <p:cNvSpPr/>
          <p:nvPr/>
        </p:nvSpPr>
        <p:spPr>
          <a:xfrm>
            <a:off x="457200" y="320040"/>
            <a:ext cx="8229600" cy="640080"/>
          </a:xfrm>
          <a:prstGeom prst="rect">
            <a:avLst/>
          </a:prstGeom>
          <a:noFill/>
          <a:ln/>
        </p:spPr>
        <p:txBody>
          <a:bodyPr wrap="square" rtlCol="0" anchor="ctr"/>
          <a:lstStyle/>
          <a:p>
            <a:pPr marL="0" indent="0">
              <a:buNone/>
            </a:pPr>
            <a:r>
              <a:rPr lang="en-US" sz="3000" b="1" kern="0" spc="300" dirty="0">
                <a:solidFill>
                  <a:srgbClr val="FFFFFF"/>
                </a:solidFill>
              </a:rPr>
              <a:t>05  |  CONCLUSION</a:t>
            </a:r>
            <a:endParaRPr lang="en-US" sz="3000" dirty="0"/>
          </a:p>
        </p:txBody>
      </p:sp>
      <p:sp>
        <p:nvSpPr>
          <p:cNvPr id="4" name="Shape 2"/>
          <p:cNvSpPr/>
          <p:nvPr/>
        </p:nvSpPr>
        <p:spPr>
          <a:xfrm>
            <a:off x="548640" y="1097280"/>
            <a:ext cx="8046720" cy="2194560"/>
          </a:xfrm>
          <a:prstGeom prst="rect">
            <a:avLst/>
          </a:prstGeom>
          <a:solidFill>
            <a:srgbClr val="FFFFFF"/>
          </a:solidFill>
          <a:ln w="12700">
            <a:solidFill>
              <a:srgbClr val="0891B2"/>
            </a:solidFill>
            <a:prstDash val="solid"/>
          </a:ln>
        </p:spPr>
      </p:sp>
      <p:sp>
        <p:nvSpPr>
          <p:cNvPr id="5" name="Shape 3"/>
          <p:cNvSpPr/>
          <p:nvPr/>
        </p:nvSpPr>
        <p:spPr>
          <a:xfrm>
            <a:off x="685800" y="1200150"/>
            <a:ext cx="7772400" cy="2011680"/>
          </a:xfrm>
          <a:prstGeom prst="rect">
            <a:avLst/>
          </a:prstGeom>
          <a:solidFill>
            <a:srgbClr val="EFF6FF"/>
          </a:solidFill>
          <a:ln w="12700">
            <a:solidFill>
              <a:srgbClr val="93C5FD"/>
            </a:solidFill>
            <a:prstDash val="dash"/>
          </a:ln>
        </p:spPr>
        <p:txBody>
          <a:bodyPr/>
          <a:lstStyle/>
          <a:p>
            <a:endParaRPr lang="fr-FR" dirty="0"/>
          </a:p>
        </p:txBody>
      </p:sp>
      <p:sp>
        <p:nvSpPr>
          <p:cNvPr id="6" name="Text 4"/>
          <p:cNvSpPr/>
          <p:nvPr/>
        </p:nvSpPr>
        <p:spPr>
          <a:xfrm>
            <a:off x="685800" y="1188720"/>
            <a:ext cx="7772400" cy="2011680"/>
          </a:xfrm>
          <a:prstGeom prst="rect">
            <a:avLst/>
          </a:prstGeom>
          <a:noFill/>
          <a:ln/>
        </p:spPr>
        <p:txBody>
          <a:bodyPr wrap="square" lIns="101600" tIns="101600" rIns="101600" bIns="101600" rtlCol="0" anchor="t"/>
          <a:lstStyle/>
          <a:p>
            <a:pPr marL="342900" indent="-342900">
              <a:buSzPct val="100000"/>
              <a:buChar char="•"/>
            </a:pPr>
            <a:r>
              <a:rPr lang="en-US" sz="1100" i="1" dirty="0">
                <a:solidFill>
                  <a:srgbClr val="3B82F6"/>
                </a:solidFill>
              </a:rPr>
              <a:t>Synthèse de l'expérience de stage...</a:t>
            </a:r>
            <a:endParaRPr lang="en-US" sz="1100" dirty="0"/>
          </a:p>
          <a:p>
            <a:pPr marL="342900" indent="-342900">
              <a:buSzPct val="100000"/>
              <a:buChar char="•"/>
            </a:pPr>
            <a:r>
              <a:rPr lang="en-US" sz="1100" i="1" dirty="0">
                <a:solidFill>
                  <a:srgbClr val="3B82F6"/>
                </a:solidFill>
              </a:rPr>
              <a:t>Lien avec ma formation / mes objectifs professionnels...</a:t>
            </a:r>
            <a:endParaRPr lang="en-US" sz="1100" dirty="0"/>
          </a:p>
          <a:p>
            <a:pPr marL="342900" indent="-342900">
              <a:buSzPct val="100000"/>
              <a:buChar char="•"/>
            </a:pPr>
            <a:r>
              <a:rPr lang="en-US" sz="1100" i="1" dirty="0">
                <a:solidFill>
                  <a:srgbClr val="3B82F6"/>
                </a:solidFill>
              </a:rPr>
              <a:t>Perspectives et prochaines étapes...</a:t>
            </a:r>
            <a:endParaRPr lang="en-US" sz="1100" dirty="0"/>
          </a:p>
        </p:txBody>
      </p:sp>
      <p:sp>
        <p:nvSpPr>
          <p:cNvPr id="7" name="Shape 5"/>
          <p:cNvSpPr/>
          <p:nvPr/>
        </p:nvSpPr>
        <p:spPr>
          <a:xfrm>
            <a:off x="548640" y="3429000"/>
            <a:ext cx="8046720" cy="1280160"/>
          </a:xfrm>
          <a:prstGeom prst="rect">
            <a:avLst/>
          </a:prstGeom>
          <a:solidFill>
            <a:srgbClr val="0D2240"/>
          </a:solidFill>
          <a:ln w="12700">
            <a:solidFill>
              <a:srgbClr val="0891B2"/>
            </a:solidFill>
            <a:prstDash val="solid"/>
          </a:ln>
        </p:spPr>
      </p:sp>
      <p:sp>
        <p:nvSpPr>
          <p:cNvPr id="8" name="Text 6"/>
          <p:cNvSpPr/>
          <p:nvPr/>
        </p:nvSpPr>
        <p:spPr>
          <a:xfrm>
            <a:off x="685800" y="3493008"/>
            <a:ext cx="7772400" cy="320040"/>
          </a:xfrm>
          <a:prstGeom prst="rect">
            <a:avLst/>
          </a:prstGeom>
          <a:noFill/>
          <a:ln/>
        </p:spPr>
        <p:txBody>
          <a:bodyPr wrap="square" rtlCol="0" anchor="ctr"/>
          <a:lstStyle/>
          <a:p>
            <a:pPr marL="0" indent="0">
              <a:buNone/>
            </a:pPr>
            <a:r>
              <a:rPr lang="en-US" sz="1200" b="1" kern="0" spc="200" dirty="0">
                <a:solidFill>
                  <a:srgbClr val="0891B2"/>
                </a:solidFill>
              </a:rPr>
              <a:t>REMERCIEMENTS</a:t>
            </a:r>
            <a:endParaRPr lang="en-US" sz="1200" dirty="0"/>
          </a:p>
        </p:txBody>
      </p:sp>
      <p:sp>
        <p:nvSpPr>
          <p:cNvPr id="9" name="Shape 7"/>
          <p:cNvSpPr/>
          <p:nvPr/>
        </p:nvSpPr>
        <p:spPr>
          <a:xfrm>
            <a:off x="685800" y="3840480"/>
            <a:ext cx="7772400" cy="685800"/>
          </a:xfrm>
          <a:prstGeom prst="rect">
            <a:avLst/>
          </a:prstGeom>
          <a:solidFill>
            <a:srgbClr val="EFF6FF"/>
          </a:solidFill>
          <a:ln w="12700">
            <a:solidFill>
              <a:srgbClr val="93C5FD"/>
            </a:solidFill>
            <a:prstDash val="dash"/>
          </a:ln>
        </p:spPr>
        <p:txBody>
          <a:bodyPr/>
          <a:lstStyle/>
          <a:p>
            <a:endParaRPr lang="fr-FR"/>
          </a:p>
        </p:txBody>
      </p:sp>
      <p:sp>
        <p:nvSpPr>
          <p:cNvPr id="10" name="Text 8"/>
          <p:cNvSpPr/>
          <p:nvPr/>
        </p:nvSpPr>
        <p:spPr>
          <a:xfrm>
            <a:off x="685800" y="3840480"/>
            <a:ext cx="7772400" cy="685800"/>
          </a:xfrm>
          <a:prstGeom prst="rect">
            <a:avLst/>
          </a:prstGeom>
          <a:noFill/>
          <a:ln/>
        </p:spPr>
        <p:txBody>
          <a:bodyPr wrap="square" lIns="76200" tIns="76200" rIns="76200" bIns="76200" rtlCol="0" anchor="ctr"/>
          <a:lstStyle/>
          <a:p>
            <a:pPr marL="0" indent="0" algn="l">
              <a:buNone/>
            </a:pPr>
            <a:r>
              <a:rPr lang="fr-FR" sz="1100" i="1" dirty="0">
                <a:solidFill>
                  <a:srgbClr val="3B82F6"/>
                </a:solidFill>
              </a:rPr>
              <a:t>Je tiens à remercier l’ensemble de l’équipe pour son accueil, sa disponibilité et son accompagnement tout au long de mon stage. Cette expérience m’a permis de développer de nouvelles compétences et d’enrichir mes connaissances dans un cadre professionnel agréable</a:t>
            </a:r>
            <a:r>
              <a:rPr lang="en-US" sz="1100" i="1" dirty="0">
                <a:solidFill>
                  <a:srgbClr val="3B82F6"/>
                </a:solidFill>
              </a:rPr>
              <a:t>.</a:t>
            </a:r>
            <a:endParaRPr lang="en-US" sz="1100" dirty="0"/>
          </a:p>
        </p:txBody>
      </p:sp>
      <p:sp>
        <p:nvSpPr>
          <p:cNvPr id="11" name="Shape 9"/>
          <p:cNvSpPr/>
          <p:nvPr/>
        </p:nvSpPr>
        <p:spPr>
          <a:xfrm>
            <a:off x="0" y="4937760"/>
            <a:ext cx="9144000" cy="205740"/>
          </a:xfrm>
          <a:prstGeom prst="rect">
            <a:avLst/>
          </a:prstGeom>
          <a:solidFill>
            <a:srgbClr val="0891B2"/>
          </a:solidFill>
          <a:ln w="12700">
            <a:solidFill>
              <a:srgbClr val="0891B2"/>
            </a:solidFill>
            <a:prstDash val="solid"/>
          </a:ln>
        </p:spPr>
      </p:sp>
      <p:sp>
        <p:nvSpPr>
          <p:cNvPr id="12" name="Text 10"/>
          <p:cNvSpPr/>
          <p:nvPr/>
        </p:nvSpPr>
        <p:spPr>
          <a:xfrm>
            <a:off x="274320" y="4956048"/>
            <a:ext cx="8595360" cy="164592"/>
          </a:xfrm>
          <a:prstGeom prst="rect">
            <a:avLst/>
          </a:prstGeom>
          <a:noFill/>
          <a:ln/>
        </p:spPr>
        <p:txBody>
          <a:bodyPr wrap="square" rtlCol="0" anchor="ctr"/>
          <a:lstStyle/>
          <a:p>
            <a:pPr marL="0" indent="0" algn="r">
              <a:buNone/>
            </a:pPr>
            <a:r>
              <a:rPr lang="en-US" sz="900" dirty="0">
                <a:solidFill>
                  <a:srgbClr val="FFFFFF"/>
                </a:solidFill>
              </a:rPr>
              <a:t>Rapport de stage</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200</TotalTime>
  <Words>368</Words>
  <Application>Microsoft Office PowerPoint</Application>
  <PresentationFormat>Affichage à l'écran (16:9)</PresentationFormat>
  <Paragraphs>100</Paragraphs>
  <Slides>7</Slides>
  <Notes>7</Notes>
  <HiddenSlides>0</HiddenSlides>
  <MMClips>0</MMClips>
  <ScaleCrop>false</ScaleCrop>
  <HeadingPairs>
    <vt:vector size="6" baseType="variant">
      <vt:variant>
        <vt:lpstr>Polices utilisées</vt:lpstr>
      </vt:variant>
      <vt:variant>
        <vt:i4>2</vt:i4>
      </vt:variant>
      <vt:variant>
        <vt:lpstr>Thème</vt:lpstr>
      </vt:variant>
      <vt:variant>
        <vt:i4>1</vt:i4>
      </vt:variant>
      <vt:variant>
        <vt:lpstr>Titres des diapositives</vt:lpstr>
      </vt:variant>
      <vt:variant>
        <vt:i4>7</vt:i4>
      </vt:variant>
    </vt:vector>
  </HeadingPairs>
  <TitlesOfParts>
    <vt:vector size="10" baseType="lpstr">
      <vt:lpstr>Algerian</vt:lpstr>
      <vt:lpstr>Arial</vt:lpstr>
      <vt:lpstr>Office Theme</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Rapport de Stage</dc:title>
  <dc:subject>PptxGenJS Presentation</dc:subject>
  <dc:creator>PptxGenJS</dc:creator>
  <cp:lastModifiedBy>Joey</cp:lastModifiedBy>
  <cp:revision>3</cp:revision>
  <dcterms:created xsi:type="dcterms:W3CDTF">2026-04-24T11:03:51Z</dcterms:created>
  <dcterms:modified xsi:type="dcterms:W3CDTF">2026-04-24T15:54:22Z</dcterms:modified>
</cp:coreProperties>
</file>